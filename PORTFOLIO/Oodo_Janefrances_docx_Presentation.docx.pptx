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7" r:id="rId3"/>
    <p:sldId id="258" r:id="rId4"/>
    <p:sldId id="264" r:id="rId5"/>
    <p:sldId id="261" r:id="rId6"/>
    <p:sldId id="262" r:id="rId7"/>
    <p:sldId id="265" r:id="rId8"/>
    <p:sldId id="263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440" autoAdjust="0"/>
    <p:restoredTop sz="94660"/>
  </p:normalViewPr>
  <p:slideViewPr>
    <p:cSldViewPr snapToGrid="0">
      <p:cViewPr varScale="1">
        <p:scale>
          <a:sx n="63" d="100"/>
          <a:sy n="63" d="100"/>
        </p:scale>
        <p:origin x="940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406665-7285-330E-A901-70FB2741A8C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6A7C7BE-5696-5DDB-2296-A46D779C235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056582-C261-F975-EBF1-5B577C9D15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156545-4766-4C26-8345-3F8EBFB2AA07}" type="datetimeFigureOut">
              <a:rPr lang="en-US" smtClean="0"/>
              <a:t>7/7/2026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ACBEEA-49B4-F8C4-F905-BE82720460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C0ED3D-8559-EDCA-7B87-C8CAE04B23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677904-8822-45C5-B5A3-49732D12B8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79748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D97160-7345-93B9-6621-6F7DAF3EFE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B8CCC1-87AA-53E8-A792-332F6523D3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24CA0C-13C6-9100-4E74-9AD5693CB2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156545-4766-4C26-8345-3F8EBFB2AA07}" type="datetimeFigureOut">
              <a:rPr lang="en-US" smtClean="0"/>
              <a:t>7/7/2026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B50CA2-1232-C56B-C217-F55637D85C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A47D69-C812-D69E-3749-8EC6938AB3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677904-8822-45C5-B5A3-49732D12B8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15998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783D30-A1F3-64E5-0FCC-BDD1C1873F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DC9ADCA-8103-EA05-824D-6C455B7536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B74DAD-51C2-96A1-F6FB-D02F283B56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156545-4766-4C26-8345-3F8EBFB2AA07}" type="datetimeFigureOut">
              <a:rPr lang="en-US" smtClean="0"/>
              <a:t>7/7/2026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AFE4DE-CE57-678A-DBE6-F790AE97A4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7DCCAF-20D6-EE70-6B3E-76EBECEF43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677904-8822-45C5-B5A3-49732D12B8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14155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5F1A47-228E-7136-6B57-581508C347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BCFFFF-9988-240C-950B-E3B6D632058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A48AFFA-58AA-BACC-E563-BFF71061BD2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0E2F27D-7F2D-7124-C0E9-800618D029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156545-4766-4C26-8345-3F8EBFB2AA07}" type="datetimeFigureOut">
              <a:rPr lang="en-US" smtClean="0"/>
              <a:t>7/7/2026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33905B3-8F5F-79F4-33E7-204093FC27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7C8B4EB-BDD4-C5EA-1E33-DE9ED0534E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677904-8822-45C5-B5A3-49732D12B8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13239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E641F9-56AF-E18F-29A7-FCB8310148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BB7D350-88B3-CFEE-5DD3-24D23016489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43B0E0D-8714-42EE-07D6-484D3E9B600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F5D3C2E-6DBD-520B-D942-A16C1D10286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361454C-96AE-B361-9701-36542F6D798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14E371A-05EB-1DFA-E366-A53991424D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156545-4766-4C26-8345-3F8EBFB2AA07}" type="datetimeFigureOut">
              <a:rPr lang="en-US" smtClean="0"/>
              <a:t>7/7/2026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84CDB13-D169-B679-5A2C-B583299EF5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4458376-D186-98A4-670B-DEAB3BE4D9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677904-8822-45C5-B5A3-49732D12B8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85310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EB51DA-DA65-1409-BB2C-B72FEA530D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F4807AE-BB2D-66A3-A980-F39FC20A90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156545-4766-4C26-8345-3F8EBFB2AA07}" type="datetimeFigureOut">
              <a:rPr lang="en-US" smtClean="0"/>
              <a:t>7/7/2026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AA84B43-0057-F244-49C6-4611981BB6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4BBED22-752D-31D9-F1F3-F4DC0B63BD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677904-8822-45C5-B5A3-49732D12B8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86609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A8D0A92-E9F2-7589-7B9C-0C7A865A4A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156545-4766-4C26-8345-3F8EBFB2AA07}" type="datetimeFigureOut">
              <a:rPr lang="en-US" smtClean="0"/>
              <a:t>7/7/2026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76D41E3-4740-BEC2-DE55-2361218D4A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0595848-70DA-7208-37E8-BB81075D4F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677904-8822-45C5-B5A3-49732D12B8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10490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C5327C-A7DD-C033-CB3B-00CA539ACC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180815-8462-C4B6-7C41-FDED7E2CC5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B0E7B93-C603-BEF1-527C-F1DEEE402CF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39C5950-83FF-7D35-F792-FFC228DADC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156545-4766-4C26-8345-3F8EBFB2AA07}" type="datetimeFigureOut">
              <a:rPr lang="en-US" smtClean="0"/>
              <a:t>7/7/2026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B584870-6A26-79BB-20ED-5D6FD1C9AF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58C8656-E39F-4106-CF08-DA42CA3380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677904-8822-45C5-B5A3-49732D12B8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94469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ABB9EF-70B3-7054-07ED-AF21565DCA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15B26B5-73EF-19F7-44AE-78B3EBA8AFF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345DF5F-C8E8-4DC2-6F35-FA349E973D9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C0762B9-A0BE-54C2-52B6-D1F89ECD98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156545-4766-4C26-8345-3F8EBFB2AA07}" type="datetimeFigureOut">
              <a:rPr lang="en-US" smtClean="0"/>
              <a:t>7/7/2026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D528354-E395-13CB-F8B6-500B5FA120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24C6917-4E43-D9D7-3B21-7CDA969A1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677904-8822-45C5-B5A3-49732D12B8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96000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918AA6-10DA-7F71-E900-DBEBC2B200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F644B28-79BD-F3E0-31F5-B79CEF17CDB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C4B969-4392-FAD1-48CB-272B832EB3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156545-4766-4C26-8345-3F8EBFB2AA07}" type="datetimeFigureOut">
              <a:rPr lang="en-US" smtClean="0"/>
              <a:t>7/7/2026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B9C14A-0E2E-7C89-05FB-DBE36A6EEA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FEB1D2-030C-2099-B6D4-20A43F8754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677904-8822-45C5-B5A3-49732D12B8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25295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FADF802-E335-A5A5-7E2C-4A0B30DFC10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67D4FE8-6853-BA2F-07D5-FFF91BA40B7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EA85C6-5A8D-5B65-0873-8E33579E54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156545-4766-4C26-8345-3F8EBFB2AA07}" type="datetimeFigureOut">
              <a:rPr lang="en-US" smtClean="0"/>
              <a:t>7/7/2026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56D6DF-537E-AFCC-093A-851DE6C170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A7317F-3F3C-4C21-9C78-651CB8266A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677904-8822-45C5-B5A3-49732D12B8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99493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hyperlink" Target="https://www.eveningnews24.co.uk/news/26027652.opinion-starting-school-four-failing-children/" TargetMode="Externa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alphaModFix amt="19000"/>
            <a:lum/>
            <a:extLst>
              <a:ext uri="{837473B0-CC2E-450A-ABE3-18F120FF3D39}">
                <a1611:picAttrSrcUrl xmlns:a1611="http://schemas.microsoft.com/office/drawing/2016/11/main" r:id="rId14"/>
              </a:ext>
            </a:extLst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8618486-6D27-F3CB-DA8B-D46DA0DC00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11D5251-EC06-EC96-CA09-2C01EF15B0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203525-9A25-4833-A4CC-F2D8C64C49C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B156545-4766-4C26-8345-3F8EBFB2AA07}" type="datetimeFigureOut">
              <a:rPr lang="en-US" smtClean="0"/>
              <a:t>7/7/2026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0E9518-953E-9713-78AE-8AA0B101D6C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4C638A-B79F-488F-0522-D0D2AAEBADC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4677904-8822-45C5-B5A3-49732D12B8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52663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africanarguments.org/2018/08/unschooled-underfunded-nigeria-schools-failing-young/" TargetMode="External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Relationship Id="rId5" Type="http://schemas.openxmlformats.org/officeDocument/2006/relationships/hyperlink" Target="https://freepngimg.com/png/48721-donate-free-clipart-hq" TargetMode="Externa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loud 6">
            <a:extLst>
              <a:ext uri="{FF2B5EF4-FFF2-40B4-BE49-F238E27FC236}">
                <a16:creationId xmlns:a16="http://schemas.microsoft.com/office/drawing/2014/main" id="{2B4C9440-DBDF-ACEA-A856-8EBD5165823C}"/>
              </a:ext>
            </a:extLst>
          </p:cNvPr>
          <p:cNvSpPr/>
          <p:nvPr/>
        </p:nvSpPr>
        <p:spPr>
          <a:xfrm>
            <a:off x="7327813" y="3596076"/>
            <a:ext cx="4285067" cy="3446718"/>
          </a:xfrm>
          <a:prstGeom prst="cloud">
            <a:avLst/>
          </a:prstGeom>
          <a:blipFill dpi="0" rotWithShape="1">
            <a:blip r:embed="rId2">
              <a:extLst>
                <a:ext uri="{837473B0-CC2E-450A-ABE3-18F120FF3D39}">
                  <a1611:picAttrSrcUrl xmlns:a1611="http://schemas.microsoft.com/office/drawing/2016/11/main" r:id="rId3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02DDC5F-A0BC-2248-8792-D1D1C9424C43}"/>
              </a:ext>
            </a:extLst>
          </p:cNvPr>
          <p:cNvSpPr txBox="1"/>
          <p:nvPr/>
        </p:nvSpPr>
        <p:spPr>
          <a:xfrm>
            <a:off x="155904" y="416560"/>
            <a:ext cx="11653520" cy="33387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ctr">
              <a:lnSpc>
                <a:spcPct val="115000"/>
              </a:lnSpc>
              <a:spcBef>
                <a:spcPts val="5000"/>
              </a:spcBef>
              <a:spcAft>
                <a:spcPts val="600"/>
              </a:spcAft>
            </a:pPr>
            <a:r>
              <a:rPr lang="en-US" sz="4000" b="1" dirty="0">
                <a:solidFill>
                  <a:schemeClr val="tx2">
                    <a:lumMod val="90000"/>
                    <a:lumOff val="10000"/>
                  </a:schemeClr>
                </a:solidFill>
                <a:effectLst/>
                <a:latin typeface="Georgia" panose="02040502050405020303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EXECUTIVE PRESENTATION SLIDE OUTLINE DECK</a:t>
            </a:r>
          </a:p>
          <a:p>
            <a:pPr marL="0" marR="0" algn="ctr">
              <a:lnSpc>
                <a:spcPct val="115000"/>
              </a:lnSpc>
              <a:spcBef>
                <a:spcPts val="5000"/>
              </a:spcBef>
              <a:spcAft>
                <a:spcPts val="600"/>
              </a:spcAft>
            </a:pPr>
            <a:endParaRPr lang="en-US" sz="1800" b="1" dirty="0">
              <a:solidFill>
                <a:schemeClr val="tx2">
                  <a:lumMod val="75000"/>
                  <a:lumOff val="25000"/>
                </a:schemeClr>
              </a:solidFill>
              <a:effectLst/>
              <a:latin typeface="Georgia" panose="02040502050405020303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0" marR="0" algn="ctr">
              <a:lnSpc>
                <a:spcPct val="115000"/>
              </a:lnSpc>
              <a:spcBef>
                <a:spcPts val="0"/>
              </a:spcBef>
              <a:spcAft>
                <a:spcPts val="8000"/>
              </a:spcAft>
            </a:pPr>
            <a:r>
              <a:rPr lang="en-US" sz="2400" b="1" i="1" dirty="0">
                <a:effectLst/>
                <a:latin typeface="Georgia" panose="02040502050405020303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Education for All: Donor Insights &amp; Strategic Fundraising</a:t>
            </a:r>
            <a:br>
              <a:rPr lang="en-US" sz="2400" b="1" i="1" dirty="0">
                <a:effectLst/>
                <a:latin typeface="Georgia" panose="02040502050405020303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</a:br>
            <a:endParaRPr lang="en-US" sz="1800" b="1" dirty="0">
              <a:effectLst/>
              <a:latin typeface="Georgia" panose="02040502050405020303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6001CF8-FFAA-1BE9-AF67-89B239D41B7B}"/>
              </a:ext>
            </a:extLst>
          </p:cNvPr>
          <p:cNvSpPr txBox="1"/>
          <p:nvPr/>
        </p:nvSpPr>
        <p:spPr>
          <a:xfrm>
            <a:off x="262586" y="4544801"/>
            <a:ext cx="6660054" cy="10217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 sz="1800" b="1" dirty="0">
                <a:effectLst/>
                <a:latin typeface="Georgia" panose="02040502050405020303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Prepared by: Janefrances </a:t>
            </a:r>
            <a:r>
              <a:rPr lang="en-US" sz="1800" b="1" dirty="0" err="1">
                <a:effectLst/>
                <a:latin typeface="Georgia" panose="02040502050405020303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Chinaza</a:t>
            </a:r>
            <a:r>
              <a:rPr lang="en-US" sz="1800" b="1" dirty="0">
                <a:effectLst/>
                <a:latin typeface="Georgia" panose="02040502050405020303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b="1" dirty="0" err="1">
                <a:effectLst/>
                <a:latin typeface="Georgia" panose="02040502050405020303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Oodo</a:t>
            </a:r>
            <a:br>
              <a:rPr lang="en-US" sz="1800" b="1" dirty="0">
                <a:effectLst/>
                <a:latin typeface="Georgia" panose="02040502050405020303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</a:br>
            <a:r>
              <a:rPr lang="en-US" b="1" dirty="0">
                <a:latin typeface="Georgia" panose="02040502050405020303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Professional Identity</a:t>
            </a:r>
            <a:r>
              <a:rPr lang="en-US" sz="1800" b="1" dirty="0">
                <a:effectLst/>
                <a:latin typeface="Georgia" panose="02040502050405020303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: Data Analyst</a:t>
            </a:r>
            <a:br>
              <a:rPr lang="en-US" sz="1800" b="1" dirty="0">
                <a:effectLst/>
                <a:latin typeface="Georgia" panose="02040502050405020303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</a:br>
            <a:r>
              <a:rPr lang="en-US" sz="1800" b="1" dirty="0">
                <a:effectLst/>
                <a:latin typeface="Georgia" panose="02040502050405020303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Date: June, 2026</a:t>
            </a:r>
          </a:p>
        </p:txBody>
      </p:sp>
      <p:sp>
        <p:nvSpPr>
          <p:cNvPr id="10" name="Cloud 9">
            <a:extLst>
              <a:ext uri="{FF2B5EF4-FFF2-40B4-BE49-F238E27FC236}">
                <a16:creationId xmlns:a16="http://schemas.microsoft.com/office/drawing/2014/main" id="{2183B198-8EB6-7235-0AF9-C152BB089D4C}"/>
              </a:ext>
            </a:extLst>
          </p:cNvPr>
          <p:cNvSpPr/>
          <p:nvPr/>
        </p:nvSpPr>
        <p:spPr>
          <a:xfrm>
            <a:off x="0" y="2470236"/>
            <a:ext cx="1376854" cy="1400723"/>
          </a:xfrm>
          <a:prstGeom prst="cloud">
            <a:avLst/>
          </a:prstGeom>
          <a:blipFill dpi="0" rotWithShape="1">
            <a:blip r:embed="rId4">
              <a:extLst>
                <a:ext uri="{837473B0-CC2E-450A-ABE3-18F120FF3D39}">
                  <a1611:picAttrSrcUrl xmlns:a1611="http://schemas.microsoft.com/office/drawing/2016/11/main" r:id="rId5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2230491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BBCA96-90D2-F46F-D962-EBB22131BF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6181" y="372140"/>
            <a:ext cx="4339855" cy="712492"/>
          </a:xfrm>
        </p:spPr>
        <p:txBody>
          <a:bodyPr>
            <a:noAutofit/>
          </a:bodyPr>
          <a:lstStyle/>
          <a:p>
            <a:r>
              <a:rPr lang="en-US" sz="2800" b="1" kern="100" dirty="0">
                <a:effectLst/>
                <a:latin typeface="Georgia" panose="02040502050405020303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Executive Summary</a:t>
            </a:r>
            <a:endParaRPr lang="en-US" sz="2800" b="1" dirty="0">
              <a:latin typeface="Georgia" panose="02040502050405020303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101D22D-CAF4-9A71-4F26-4FA2EEC7E315}"/>
              </a:ext>
            </a:extLst>
          </p:cNvPr>
          <p:cNvSpPr txBox="1"/>
          <p:nvPr/>
        </p:nvSpPr>
        <p:spPr>
          <a:xfrm>
            <a:off x="636182" y="1000499"/>
            <a:ext cx="10515600" cy="29546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800" kern="100" dirty="0">
                <a:effectLst/>
                <a:latin typeface="Georgia" panose="02040502050405020303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 </a:t>
            </a:r>
            <a:r>
              <a:rPr lang="en-US" sz="1800" dirty="0">
                <a:effectLst/>
                <a:latin typeface="Georgia" panose="02040502050405020303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This report provides a comprehensive, data-driven evaluation of the Education for All donor database to optimize upcoming fundraising campaigns and guide the annual strategic roadmap. Utilizing performance insights extracted via PostgreSQL from a database tracking 1,000 unique interactions, </a:t>
            </a:r>
            <a:endParaRPr lang="en-US" kern="100" dirty="0">
              <a:latin typeface="Georgia" panose="02040502050405020303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800" kern="100" dirty="0">
                <a:effectLst/>
                <a:latin typeface="Georgia" panose="02040502050405020303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Our analysis of 1,000 donor interactions shows revenue is highly concentrated. *65% of total funds — $162,350 — come from 410 high-value donors* giving &gt;$200 per transaction. 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800" kern="100" dirty="0">
                <a:effectLst/>
                <a:latin typeface="Georgia" panose="02040502050405020303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Top performance comes from *Business Development and Engineering professionals*, and from *California and New York* as key geographic hubs. High-value giving also strongly correlates with *premium car ownership* such as Tesla, BMW, and Mercedes.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8E2C34C-BC1D-9754-99CE-1226A50F20D4}"/>
              </a:ext>
            </a:extLst>
          </p:cNvPr>
          <p:cNvSpPr txBox="1"/>
          <p:nvPr/>
        </p:nvSpPr>
        <p:spPr>
          <a:xfrm>
            <a:off x="729858" y="4262880"/>
            <a:ext cx="10800080" cy="19632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</a:pPr>
            <a:r>
              <a:rPr lang="en-US" sz="2800" b="1" dirty="0">
                <a:effectLst/>
                <a:latin typeface="Georgia" panose="02040502050405020303" pitchFamily="18" charset="0"/>
                <a:ea typeface="MS Gothic" panose="020B0609070205080204" pitchFamily="49" charset="-128"/>
                <a:cs typeface="Times New Roman" panose="02020603050405020304" pitchFamily="18" charset="0"/>
              </a:rPr>
              <a:t>Strategic Goals</a:t>
            </a:r>
          </a:p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1800" dirty="0">
                <a:effectLst/>
                <a:latin typeface="Georgia" panose="02040502050405020303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The fundraising roadmap is driven by three clear business initiatives:</a:t>
            </a:r>
          </a:p>
          <a:p>
            <a:pPr marL="342900" marR="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  <a:tabLst>
                <a:tab pos="228600" algn="l"/>
              </a:tabLst>
            </a:pPr>
            <a:r>
              <a:rPr lang="en-US" sz="1800" dirty="0">
                <a:effectLst/>
                <a:latin typeface="Georgia" panose="02040502050405020303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Expand Volume: Acquire and successfully onboard fresh high-affinity donors.</a:t>
            </a:r>
          </a:p>
          <a:p>
            <a:pPr marL="342900" marR="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  <a:tabLst>
                <a:tab pos="228600" algn="l"/>
              </a:tabLst>
            </a:pPr>
            <a:r>
              <a:rPr lang="en-US" sz="1800" dirty="0">
                <a:effectLst/>
                <a:latin typeface="Georgia" panose="02040502050405020303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Elevate Frequency: Convert sporadic or one-off contributors to recurring monthly schedules.</a:t>
            </a:r>
          </a:p>
          <a:p>
            <a:pPr marL="342900" marR="0" lvl="0" indent="-34290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Font typeface="+mj-lt"/>
              <a:buAutoNum type="arabicPeriod"/>
              <a:tabLst>
                <a:tab pos="228600" algn="l"/>
              </a:tabLst>
            </a:pPr>
            <a:r>
              <a:rPr lang="en-US" sz="1800" dirty="0">
                <a:effectLst/>
                <a:latin typeface="Georgia" panose="02040502050405020303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Maximize Value: Optimize top tiers by aligning demographics with high-value gifts ($200+).</a:t>
            </a:r>
          </a:p>
        </p:txBody>
      </p:sp>
    </p:spTree>
    <p:extLst>
      <p:ext uri="{BB962C8B-B14F-4D97-AF65-F5344CB8AC3E}">
        <p14:creationId xmlns:p14="http://schemas.microsoft.com/office/powerpoint/2010/main" val="184114016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F7A7E497-C3E5-38FB-739E-6683FD5E6BFD}"/>
              </a:ext>
            </a:extLst>
          </p:cNvPr>
          <p:cNvSpPr txBox="1"/>
          <p:nvPr/>
        </p:nvSpPr>
        <p:spPr>
          <a:xfrm>
            <a:off x="0" y="40231"/>
            <a:ext cx="5034398" cy="741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lnSpc>
                <a:spcPct val="115000"/>
              </a:lnSpc>
              <a:spcBef>
                <a:spcPts val="2400"/>
              </a:spcBef>
              <a:spcAft>
                <a:spcPts val="0"/>
              </a:spcAft>
            </a:pPr>
            <a:r>
              <a:rPr lang="en-US" sz="4000" b="1" kern="0" dirty="0">
                <a:solidFill>
                  <a:srgbClr val="1B365D"/>
                </a:solidFill>
                <a:effectLst/>
                <a:latin typeface="Georgia" panose="02040502050405020303" pitchFamily="18" charset="0"/>
                <a:ea typeface="MS Gothic" panose="020B0609070205080204" pitchFamily="49" charset="-128"/>
                <a:cs typeface="Times New Roman" panose="02020603050405020304" pitchFamily="18" charset="0"/>
              </a:rPr>
              <a:t>Database Schema</a:t>
            </a:r>
            <a:endParaRPr lang="en-US" sz="4000" b="1" kern="0" dirty="0">
              <a:solidFill>
                <a:srgbClr val="365F91"/>
              </a:solidFill>
              <a:effectLst/>
              <a:latin typeface="Georgia" panose="02040502050405020303" pitchFamily="18" charset="0"/>
              <a:ea typeface="MS Gothic" panose="020B0609070205080204" pitchFamily="49" charset="-128"/>
              <a:cs typeface="Times New Roman" panose="02020603050405020304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585444B-925C-6BC6-EFC7-64A5A3A30BD1}"/>
              </a:ext>
            </a:extLst>
          </p:cNvPr>
          <p:cNvSpPr txBox="1"/>
          <p:nvPr/>
        </p:nvSpPr>
        <p:spPr>
          <a:xfrm>
            <a:off x="81280" y="698413"/>
            <a:ext cx="10622280" cy="26223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</a:pPr>
            <a:r>
              <a:rPr lang="en-US" sz="2800" b="1" dirty="0">
                <a:effectLst/>
                <a:latin typeface="Georgia" panose="02040502050405020303" pitchFamily="18" charset="0"/>
                <a:ea typeface="MS Gothic" panose="020B0609070205080204" pitchFamily="49" charset="-128"/>
                <a:cs typeface="Times New Roman" panose="02020603050405020304" pitchFamily="18" charset="0"/>
              </a:rPr>
              <a:t>Schema Join Logic</a:t>
            </a:r>
          </a:p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1800" dirty="0">
                <a:effectLst/>
                <a:latin typeface="Georgia" panose="02040502050405020303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To connect relational tables securely, the following SQL logic is applied:</a:t>
            </a:r>
          </a:p>
          <a:p>
            <a:pPr marL="457200" marR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1600" dirty="0">
                <a:effectLst/>
                <a:latin typeface="Georgia" panose="02040502050405020303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SELECT d1.donation, d2.donation_frequency</a:t>
            </a:r>
            <a:br>
              <a:rPr lang="en-US" sz="1600" dirty="0">
                <a:effectLst/>
                <a:latin typeface="Georgia" panose="02040502050405020303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</a:br>
            <a:r>
              <a:rPr lang="en-US" sz="1600" dirty="0">
                <a:effectLst/>
                <a:latin typeface="Georgia" panose="02040502050405020303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FROM </a:t>
            </a:r>
            <a:r>
              <a:rPr lang="en-US" sz="1600" dirty="0" err="1">
                <a:effectLst/>
                <a:latin typeface="Georgia" panose="02040502050405020303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Donation_Data</a:t>
            </a:r>
            <a:r>
              <a:rPr lang="en-US" sz="1600" dirty="0">
                <a:effectLst/>
                <a:latin typeface="Georgia" panose="02040502050405020303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d1</a:t>
            </a:r>
            <a:br>
              <a:rPr lang="en-US" sz="1600" dirty="0">
                <a:effectLst/>
                <a:latin typeface="Georgia" panose="02040502050405020303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</a:br>
            <a:r>
              <a:rPr lang="en-US" sz="1600" dirty="0">
                <a:effectLst/>
                <a:latin typeface="Georgia" panose="02040502050405020303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INNER JOIN </a:t>
            </a:r>
            <a:r>
              <a:rPr lang="en-US" sz="1600" dirty="0" err="1">
                <a:effectLst/>
                <a:latin typeface="Georgia" panose="02040502050405020303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Donor_Data</a:t>
            </a:r>
            <a:r>
              <a:rPr lang="en-US" sz="1600" dirty="0">
                <a:effectLst/>
                <a:latin typeface="Georgia" panose="02040502050405020303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d2 ON d1.id = d2.id;</a:t>
            </a:r>
            <a:endParaRPr lang="en-US" sz="1800" dirty="0">
              <a:effectLst/>
              <a:latin typeface="Georgia" panose="02040502050405020303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  <a:tabLst>
                <a:tab pos="228600" algn="l"/>
              </a:tabLst>
            </a:pPr>
            <a:r>
              <a:rPr lang="en-US" sz="1800" dirty="0">
                <a:effectLst/>
                <a:latin typeface="Georgia" panose="02040502050405020303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• </a:t>
            </a:r>
            <a:r>
              <a:rPr lang="en-US" sz="1800" dirty="0" err="1">
                <a:effectLst/>
                <a:latin typeface="Georgia" panose="02040502050405020303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Donation_Data</a:t>
            </a:r>
            <a:r>
              <a:rPr lang="en-US" sz="1800" dirty="0">
                <a:effectLst/>
                <a:latin typeface="Georgia" panose="02040502050405020303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: Tracks transactions, gender, job field, and state.</a:t>
            </a:r>
          </a:p>
          <a:p>
            <a:pPr marL="342900" marR="0" lvl="0" indent="-34290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"/>
              <a:tabLst>
                <a:tab pos="228600" algn="l"/>
              </a:tabLst>
            </a:pPr>
            <a:r>
              <a:rPr lang="en-US" sz="1800" dirty="0">
                <a:effectLst/>
                <a:latin typeface="Georgia" panose="02040502050405020303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• </a:t>
            </a:r>
            <a:r>
              <a:rPr lang="en-US" sz="1800" dirty="0" err="1">
                <a:effectLst/>
                <a:latin typeface="Georgia" panose="02040502050405020303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Donor_Data</a:t>
            </a:r>
            <a:r>
              <a:rPr lang="en-US" sz="1800" dirty="0">
                <a:effectLst/>
                <a:latin typeface="Georgia" panose="02040502050405020303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: Captures frequency, car model, languages, and university affiliation.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A23A075A-281F-7554-442F-404815B78D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4603499"/>
            <a:ext cx="3429001" cy="1962475"/>
          </a:xfrm>
          <a:prstGeom prst="rect">
            <a:avLst/>
          </a:prstGeo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449994D6-C552-F629-2918-39FAA40D7628}"/>
              </a:ext>
            </a:extLst>
          </p:cNvPr>
          <p:cNvSpPr txBox="1">
            <a:spLocks/>
          </p:cNvSpPr>
          <p:nvPr/>
        </p:nvSpPr>
        <p:spPr>
          <a:xfrm>
            <a:off x="228600" y="3609126"/>
            <a:ext cx="2189480" cy="57975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000">
                <a:latin typeface="Georgia" panose="02040502050405020303" pitchFamily="18" charset="0"/>
              </a:rPr>
              <a:t>ERD DIAGRAM</a:t>
            </a:r>
            <a:endParaRPr lang="en-US" sz="2000" dirty="0">
              <a:latin typeface="Georgia" panose="020405020504050203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9305531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E980212-7733-403C-5272-1ADA2BA778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2589" y="1121830"/>
            <a:ext cx="7027553" cy="3444669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4C6656-8436-536C-AFEB-C3B6588FBD6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176" y="801635"/>
            <a:ext cx="3429000" cy="396875"/>
          </a:xfrm>
        </p:spPr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en-US" sz="2000" b="1" dirty="0">
                <a:latin typeface="Georgia" panose="02040502050405020303" pitchFamily="18" charset="0"/>
              </a:rPr>
              <a:t>DASHBOARD DIAGRAM</a:t>
            </a: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F181EE5A-46C1-B2CB-366C-8CF85FACDC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176" y="80851"/>
            <a:ext cx="5169195" cy="765655"/>
          </a:xfrm>
        </p:spPr>
        <p:txBody>
          <a:bodyPr>
            <a:normAutofit/>
          </a:bodyPr>
          <a:lstStyle/>
          <a:p>
            <a:r>
              <a:rPr lang="en-US" sz="2800" b="1" dirty="0">
                <a:latin typeface="Georgia" panose="02040502050405020303" pitchFamily="18" charset="0"/>
              </a:rPr>
              <a:t>ANALYSIS AND FINDINGS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D60EE99-8D6E-DB7F-BE36-4B2546D80A34}"/>
              </a:ext>
            </a:extLst>
          </p:cNvPr>
          <p:cNvSpPr txBox="1"/>
          <p:nvPr/>
        </p:nvSpPr>
        <p:spPr>
          <a:xfrm>
            <a:off x="289910" y="5012662"/>
            <a:ext cx="6096000" cy="15039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2000" b="1" dirty="0">
                <a:solidFill>
                  <a:srgbClr val="333333"/>
                </a:solidFill>
                <a:effectLst/>
                <a:latin typeface="Georgia" panose="02040502050405020303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Gender Breakdown:</a:t>
            </a:r>
          </a:p>
          <a:p>
            <a:pPr marL="342900" marR="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  <a:tabLst>
                <a:tab pos="228600" algn="l"/>
              </a:tabLst>
            </a:pPr>
            <a:r>
              <a:rPr lang="en-US" sz="1800" dirty="0">
                <a:solidFill>
                  <a:srgbClr val="333333"/>
                </a:solidFill>
                <a:effectLst/>
                <a:latin typeface="Georgia" panose="02040502050405020303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Female: $128,420 (51.24% share) | 520 total transactions</a:t>
            </a:r>
          </a:p>
          <a:p>
            <a:pPr marL="342900" marR="0" lvl="0" indent="-34290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"/>
              <a:tabLst>
                <a:tab pos="228600" algn="l"/>
              </a:tabLst>
            </a:pPr>
            <a:r>
              <a:rPr lang="en-US" sz="1800" dirty="0">
                <a:solidFill>
                  <a:srgbClr val="333333"/>
                </a:solidFill>
                <a:effectLst/>
                <a:latin typeface="Georgia" panose="02040502050405020303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Male: $121,430 (48.76% share) | 480 total transactions</a:t>
            </a:r>
          </a:p>
        </p:txBody>
      </p:sp>
    </p:spTree>
    <p:extLst>
      <p:ext uri="{BB962C8B-B14F-4D97-AF65-F5344CB8AC3E}">
        <p14:creationId xmlns:p14="http://schemas.microsoft.com/office/powerpoint/2010/main" val="21895172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21E1B6DA-DAC4-042D-AE04-9D5704A91C06}"/>
              </a:ext>
            </a:extLst>
          </p:cNvPr>
          <p:cNvSpPr txBox="1"/>
          <p:nvPr/>
        </p:nvSpPr>
        <p:spPr>
          <a:xfrm>
            <a:off x="179100" y="4714263"/>
            <a:ext cx="6390640" cy="417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lnSpc>
                <a:spcPct val="115000"/>
              </a:lnSpc>
              <a:spcBef>
                <a:spcPts val="2400"/>
              </a:spcBef>
              <a:spcAft>
                <a:spcPts val="0"/>
              </a:spcAft>
            </a:pPr>
            <a:r>
              <a:rPr lang="en-US" sz="2000" b="1" kern="0" dirty="0">
                <a:solidFill>
                  <a:srgbClr val="1B365D"/>
                </a:solidFill>
                <a:effectLst/>
                <a:latin typeface="Georgia" panose="02040502050405020303" pitchFamily="18" charset="0"/>
                <a:ea typeface="MS Gothic" panose="020B0609070205080204" pitchFamily="49" charset="-128"/>
                <a:cs typeface="Times New Roman" panose="02020603050405020304" pitchFamily="18" charset="0"/>
              </a:rPr>
              <a:t>Frequency Breakdown &amp; Value Concentration</a:t>
            </a:r>
            <a:endParaRPr lang="en-US" sz="2000" b="1" kern="0" dirty="0">
              <a:solidFill>
                <a:srgbClr val="365F91"/>
              </a:solidFill>
              <a:effectLst/>
              <a:latin typeface="Georgia" panose="02040502050405020303" pitchFamily="18" charset="0"/>
              <a:ea typeface="MS Gothic" panose="020B0609070205080204" pitchFamily="49" charset="-128"/>
              <a:cs typeface="Times New Roman" panose="02020603050405020304" pitchFamily="18" charset="0"/>
            </a:endParaRP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85249648-79E0-4357-1921-98C8AAB1E5D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3989816"/>
              </p:ext>
            </p:extLst>
          </p:nvPr>
        </p:nvGraphicFramePr>
        <p:xfrm>
          <a:off x="255300" y="5229249"/>
          <a:ext cx="5943600" cy="150273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971800">
                  <a:extLst>
                    <a:ext uri="{9D8B030D-6E8A-4147-A177-3AD203B41FA5}">
                      <a16:colId xmlns:a16="http://schemas.microsoft.com/office/drawing/2014/main" val="2986033467"/>
                    </a:ext>
                  </a:extLst>
                </a:gridCol>
                <a:gridCol w="2971800">
                  <a:extLst>
                    <a:ext uri="{9D8B030D-6E8A-4147-A177-3AD203B41FA5}">
                      <a16:colId xmlns:a16="http://schemas.microsoft.com/office/drawing/2014/main" val="101267547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050">
                          <a:effectLst/>
                        </a:rPr>
                        <a:t>DONATION FREQUENCY</a:t>
                      </a:r>
                      <a:endParaRPr lang="en-US" sz="1050">
                        <a:solidFill>
                          <a:srgbClr val="333333"/>
                        </a:solidFill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95250" marR="95250" marT="63500" marB="6350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050" dirty="0">
                          <a:effectLst/>
                        </a:rPr>
                        <a:t>REVENUE</a:t>
                      </a:r>
                      <a:endParaRPr lang="en-US" sz="1050" dirty="0">
                        <a:solidFill>
                          <a:srgbClr val="333333"/>
                        </a:solidFill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95250" marR="95250" marT="63500" marB="63500"/>
                </a:tc>
                <a:extLst>
                  <a:ext uri="{0D108BD9-81ED-4DB2-BD59-A6C34878D82A}">
                    <a16:rowId xmlns:a16="http://schemas.microsoft.com/office/drawing/2014/main" val="211592034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050">
                          <a:effectLst/>
                        </a:rPr>
                        <a:t>Monthly</a:t>
                      </a:r>
                      <a:endParaRPr lang="en-US" sz="1050">
                        <a:solidFill>
                          <a:srgbClr val="333333"/>
                        </a:solidFill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95250" marR="95250" marT="63500" marB="6350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050">
                          <a:effectLst/>
                        </a:rPr>
                        <a:t>$98,500</a:t>
                      </a:r>
                      <a:endParaRPr lang="en-US" sz="1050">
                        <a:solidFill>
                          <a:srgbClr val="333333"/>
                        </a:solidFill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95250" marR="95250" marT="63500" marB="63500"/>
                </a:tc>
                <a:extLst>
                  <a:ext uri="{0D108BD9-81ED-4DB2-BD59-A6C34878D82A}">
                    <a16:rowId xmlns:a16="http://schemas.microsoft.com/office/drawing/2014/main" val="7321744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050" dirty="0">
                          <a:effectLst/>
                        </a:rPr>
                        <a:t>Weekly</a:t>
                      </a:r>
                      <a:endParaRPr lang="en-US" sz="1050" dirty="0">
                        <a:solidFill>
                          <a:srgbClr val="333333"/>
                        </a:solidFill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95250" marR="95250" marT="63500" marB="6350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050">
                          <a:effectLst/>
                        </a:rPr>
                        <a:t>$65,240</a:t>
                      </a:r>
                      <a:endParaRPr lang="en-US" sz="1050">
                        <a:solidFill>
                          <a:srgbClr val="333333"/>
                        </a:solidFill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95250" marR="95250" marT="63500" marB="63500"/>
                </a:tc>
                <a:extLst>
                  <a:ext uri="{0D108BD9-81ED-4DB2-BD59-A6C34878D82A}">
                    <a16:rowId xmlns:a16="http://schemas.microsoft.com/office/drawing/2014/main" val="420518123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050">
                          <a:effectLst/>
                        </a:rPr>
                        <a:t>Once</a:t>
                      </a:r>
                      <a:endParaRPr lang="en-US" sz="1050">
                        <a:solidFill>
                          <a:srgbClr val="333333"/>
                        </a:solidFill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95250" marR="95250" marT="63500" marB="6350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050">
                          <a:effectLst/>
                        </a:rPr>
                        <a:t>$45,110</a:t>
                      </a:r>
                      <a:endParaRPr lang="en-US" sz="1050">
                        <a:solidFill>
                          <a:srgbClr val="333333"/>
                        </a:solidFill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95250" marR="95250" marT="63500" marB="63500"/>
                </a:tc>
                <a:extLst>
                  <a:ext uri="{0D108BD9-81ED-4DB2-BD59-A6C34878D82A}">
                    <a16:rowId xmlns:a16="http://schemas.microsoft.com/office/drawing/2014/main" val="28378987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050">
                          <a:effectLst/>
                        </a:rPr>
                        <a:t>Yearly</a:t>
                      </a:r>
                      <a:endParaRPr lang="en-US" sz="1050">
                        <a:solidFill>
                          <a:srgbClr val="333333"/>
                        </a:solidFill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95250" marR="95250" marT="63500" marB="6350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050" dirty="0">
                          <a:effectLst/>
                        </a:rPr>
                        <a:t>$41,000</a:t>
                      </a:r>
                      <a:endParaRPr lang="en-US" sz="1050" dirty="0">
                        <a:solidFill>
                          <a:srgbClr val="333333"/>
                        </a:solidFill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95250" marR="95250" marT="63500" marB="63500"/>
                </a:tc>
                <a:extLst>
                  <a:ext uri="{0D108BD9-81ED-4DB2-BD59-A6C34878D82A}">
                    <a16:rowId xmlns:a16="http://schemas.microsoft.com/office/drawing/2014/main" val="1888941505"/>
                  </a:ext>
                </a:extLst>
              </a:tr>
            </a:tbl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8E396046-40A7-CE35-468B-76312424AA3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93315652"/>
              </p:ext>
            </p:extLst>
          </p:nvPr>
        </p:nvGraphicFramePr>
        <p:xfrm>
          <a:off x="255300" y="783190"/>
          <a:ext cx="5943600" cy="3616394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981200">
                  <a:extLst>
                    <a:ext uri="{9D8B030D-6E8A-4147-A177-3AD203B41FA5}">
                      <a16:colId xmlns:a16="http://schemas.microsoft.com/office/drawing/2014/main" val="3794255961"/>
                    </a:ext>
                  </a:extLst>
                </a:gridCol>
                <a:gridCol w="1981200">
                  <a:extLst>
                    <a:ext uri="{9D8B030D-6E8A-4147-A177-3AD203B41FA5}">
                      <a16:colId xmlns:a16="http://schemas.microsoft.com/office/drawing/2014/main" val="2309735035"/>
                    </a:ext>
                  </a:extLst>
                </a:gridCol>
                <a:gridCol w="1981200">
                  <a:extLst>
                    <a:ext uri="{9D8B030D-6E8A-4147-A177-3AD203B41FA5}">
                      <a16:colId xmlns:a16="http://schemas.microsoft.com/office/drawing/2014/main" val="106853717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lang="en-US" sz="1200">
                          <a:effectLst/>
                        </a:rPr>
                        <a:t>Rank Order</a:t>
                      </a:r>
                      <a:endParaRPr lang="en-US" sz="1100">
                        <a:solidFill>
                          <a:srgbClr val="333333"/>
                        </a:solidFill>
                        <a:effectLst/>
                        <a:latin typeface="Calibri" panose="020F050202020403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95250" marR="95250" marT="76200" marB="7620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lang="en-US" sz="1200">
                          <a:effectLst/>
                        </a:rPr>
                        <a:t>Car Brand Driven</a:t>
                      </a:r>
                      <a:endParaRPr lang="en-US" sz="1100">
                        <a:solidFill>
                          <a:srgbClr val="333333"/>
                        </a:solidFill>
                        <a:effectLst/>
                        <a:latin typeface="Calibri" panose="020F050202020403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95250" marR="95250" marT="76200" marB="7620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lang="en-US" sz="1200">
                          <a:effectLst/>
                        </a:rPr>
                        <a:t>Total Capital Generated</a:t>
                      </a:r>
                      <a:endParaRPr lang="en-US" sz="1100">
                        <a:solidFill>
                          <a:srgbClr val="333333"/>
                        </a:solidFill>
                        <a:effectLst/>
                        <a:latin typeface="Calibri" panose="020F050202020403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95250" marR="95250" marT="76200" marB="76200"/>
                </a:tc>
                <a:extLst>
                  <a:ext uri="{0D108BD9-81ED-4DB2-BD59-A6C34878D82A}">
                    <a16:rowId xmlns:a16="http://schemas.microsoft.com/office/drawing/2014/main" val="290384937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lang="en-US" sz="1200" dirty="0">
                          <a:effectLst/>
                        </a:rPr>
                        <a:t>1</a:t>
                      </a:r>
                      <a:endParaRPr lang="en-US" sz="1100" dirty="0">
                        <a:solidFill>
                          <a:srgbClr val="333333"/>
                        </a:solidFill>
                        <a:effectLst/>
                        <a:latin typeface="Calibri" panose="020F050202020403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95250" marR="95250" marT="63500" marB="6350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lang="en-US" sz="1200">
                          <a:effectLst/>
                        </a:rPr>
                        <a:t>Tesla</a:t>
                      </a:r>
                      <a:endParaRPr lang="en-US" sz="1100">
                        <a:solidFill>
                          <a:srgbClr val="333333"/>
                        </a:solidFill>
                        <a:effectLst/>
                        <a:latin typeface="Calibri" panose="020F050202020403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95250" marR="95250" marT="63500" marB="6350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lang="en-US" sz="1200">
                          <a:effectLst/>
                        </a:rPr>
                        <a:t>$18,400.00</a:t>
                      </a:r>
                      <a:endParaRPr lang="en-US" sz="1100">
                        <a:solidFill>
                          <a:srgbClr val="333333"/>
                        </a:solidFill>
                        <a:effectLst/>
                        <a:latin typeface="Calibri" panose="020F050202020403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95250" marR="95250" marT="63500" marB="63500"/>
                </a:tc>
                <a:extLst>
                  <a:ext uri="{0D108BD9-81ED-4DB2-BD59-A6C34878D82A}">
                    <a16:rowId xmlns:a16="http://schemas.microsoft.com/office/drawing/2014/main" val="216025776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lang="en-US" sz="1200">
                          <a:effectLst/>
                        </a:rPr>
                        <a:t>2</a:t>
                      </a:r>
                      <a:endParaRPr lang="en-US" sz="1100">
                        <a:solidFill>
                          <a:srgbClr val="333333"/>
                        </a:solidFill>
                        <a:effectLst/>
                        <a:latin typeface="Calibri" panose="020F050202020403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95250" marR="95250" marT="63500" marB="6350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lang="en-US" sz="1200">
                          <a:effectLst/>
                        </a:rPr>
                        <a:t>BMW</a:t>
                      </a:r>
                      <a:endParaRPr lang="en-US" sz="1100">
                        <a:solidFill>
                          <a:srgbClr val="333333"/>
                        </a:solidFill>
                        <a:effectLst/>
                        <a:latin typeface="Calibri" panose="020F050202020403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95250" marR="95250" marT="63500" marB="6350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lang="en-US" sz="1200">
                          <a:effectLst/>
                        </a:rPr>
                        <a:t>$16,250.00</a:t>
                      </a:r>
                      <a:endParaRPr lang="en-US" sz="1100">
                        <a:solidFill>
                          <a:srgbClr val="333333"/>
                        </a:solidFill>
                        <a:effectLst/>
                        <a:latin typeface="Calibri" panose="020F050202020403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95250" marR="95250" marT="63500" marB="63500"/>
                </a:tc>
                <a:extLst>
                  <a:ext uri="{0D108BD9-81ED-4DB2-BD59-A6C34878D82A}">
                    <a16:rowId xmlns:a16="http://schemas.microsoft.com/office/drawing/2014/main" val="318572054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lang="en-US" sz="1200">
                          <a:effectLst/>
                        </a:rPr>
                        <a:t>3</a:t>
                      </a:r>
                      <a:endParaRPr lang="en-US" sz="1100">
                        <a:solidFill>
                          <a:srgbClr val="333333"/>
                        </a:solidFill>
                        <a:effectLst/>
                        <a:latin typeface="Calibri" panose="020F050202020403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95250" marR="95250" marT="63500" marB="6350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lang="en-US" sz="1200">
                          <a:effectLst/>
                        </a:rPr>
                        <a:t>Mercedes-Benz</a:t>
                      </a:r>
                      <a:endParaRPr lang="en-US" sz="1100">
                        <a:solidFill>
                          <a:srgbClr val="333333"/>
                        </a:solidFill>
                        <a:effectLst/>
                        <a:latin typeface="Calibri" panose="020F050202020403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95250" marR="95250" marT="63500" marB="6350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lang="en-US" sz="1200" dirty="0">
                          <a:effectLst/>
                        </a:rPr>
                        <a:t>$15,900.00</a:t>
                      </a:r>
                      <a:endParaRPr lang="en-US" sz="1100" dirty="0">
                        <a:solidFill>
                          <a:srgbClr val="333333"/>
                        </a:solidFill>
                        <a:effectLst/>
                        <a:latin typeface="Calibri" panose="020F050202020403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95250" marR="95250" marT="63500" marB="63500"/>
                </a:tc>
                <a:extLst>
                  <a:ext uri="{0D108BD9-81ED-4DB2-BD59-A6C34878D82A}">
                    <a16:rowId xmlns:a16="http://schemas.microsoft.com/office/drawing/2014/main" val="87009322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lang="en-US" sz="1200">
                          <a:effectLst/>
                        </a:rPr>
                        <a:t>4</a:t>
                      </a:r>
                      <a:endParaRPr lang="en-US" sz="1100">
                        <a:solidFill>
                          <a:srgbClr val="333333"/>
                        </a:solidFill>
                        <a:effectLst/>
                        <a:latin typeface="Calibri" panose="020F050202020403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95250" marR="95250" marT="63500" marB="6350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lang="en-US" sz="1200">
                          <a:effectLst/>
                        </a:rPr>
                        <a:t>Audi</a:t>
                      </a:r>
                      <a:endParaRPr lang="en-US" sz="1100">
                        <a:solidFill>
                          <a:srgbClr val="333333"/>
                        </a:solidFill>
                        <a:effectLst/>
                        <a:latin typeface="Calibri" panose="020F050202020403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95250" marR="95250" marT="63500" marB="6350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lang="en-US" sz="1200">
                          <a:effectLst/>
                        </a:rPr>
                        <a:t>$14,100.00</a:t>
                      </a:r>
                      <a:endParaRPr lang="en-US" sz="1100">
                        <a:solidFill>
                          <a:srgbClr val="333333"/>
                        </a:solidFill>
                        <a:effectLst/>
                        <a:latin typeface="Calibri" panose="020F050202020403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95250" marR="95250" marT="63500" marB="63500"/>
                </a:tc>
                <a:extLst>
                  <a:ext uri="{0D108BD9-81ED-4DB2-BD59-A6C34878D82A}">
                    <a16:rowId xmlns:a16="http://schemas.microsoft.com/office/drawing/2014/main" val="321697494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lang="en-US" sz="1200">
                          <a:effectLst/>
                        </a:rPr>
                        <a:t>5</a:t>
                      </a:r>
                      <a:endParaRPr lang="en-US" sz="1100">
                        <a:solidFill>
                          <a:srgbClr val="333333"/>
                        </a:solidFill>
                        <a:effectLst/>
                        <a:latin typeface="Calibri" panose="020F050202020403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95250" marR="95250" marT="63500" marB="6350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lang="en-US" sz="1200">
                          <a:effectLst/>
                        </a:rPr>
                        <a:t>GLexus</a:t>
                      </a:r>
                      <a:endParaRPr lang="en-US" sz="1100">
                        <a:solidFill>
                          <a:srgbClr val="333333"/>
                        </a:solidFill>
                        <a:effectLst/>
                        <a:latin typeface="Calibri" panose="020F050202020403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95250" marR="95250" marT="63500" marB="6350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lang="en-US" sz="1200">
                          <a:effectLst/>
                        </a:rPr>
                        <a:t>$12,800.00</a:t>
                      </a:r>
                      <a:endParaRPr lang="en-US" sz="1100">
                        <a:solidFill>
                          <a:srgbClr val="333333"/>
                        </a:solidFill>
                        <a:effectLst/>
                        <a:latin typeface="Calibri" panose="020F050202020403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95250" marR="95250" marT="63500" marB="63500"/>
                </a:tc>
                <a:extLst>
                  <a:ext uri="{0D108BD9-81ED-4DB2-BD59-A6C34878D82A}">
                    <a16:rowId xmlns:a16="http://schemas.microsoft.com/office/drawing/2014/main" val="400788525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lang="en-US" sz="1200">
                          <a:effectLst/>
                        </a:rPr>
                        <a:t>6</a:t>
                      </a:r>
                      <a:endParaRPr lang="en-US" sz="1100">
                        <a:solidFill>
                          <a:srgbClr val="333333"/>
                        </a:solidFill>
                        <a:effectLst/>
                        <a:latin typeface="Calibri" panose="020F050202020403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95250" marR="95250" marT="63500" marB="6350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lang="en-US" sz="1200">
                          <a:effectLst/>
                        </a:rPr>
                        <a:t>Porsche</a:t>
                      </a:r>
                      <a:endParaRPr lang="en-US" sz="1100">
                        <a:solidFill>
                          <a:srgbClr val="333333"/>
                        </a:solidFill>
                        <a:effectLst/>
                        <a:latin typeface="Calibri" panose="020F050202020403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95250" marR="95250" marT="63500" marB="6350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lang="en-US" sz="1200">
                          <a:effectLst/>
                        </a:rPr>
                        <a:t>$11,400.00</a:t>
                      </a:r>
                      <a:endParaRPr lang="en-US" sz="1100">
                        <a:solidFill>
                          <a:srgbClr val="333333"/>
                        </a:solidFill>
                        <a:effectLst/>
                        <a:latin typeface="Calibri" panose="020F050202020403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95250" marR="95250" marT="63500" marB="63500"/>
                </a:tc>
                <a:extLst>
                  <a:ext uri="{0D108BD9-81ED-4DB2-BD59-A6C34878D82A}">
                    <a16:rowId xmlns:a16="http://schemas.microsoft.com/office/drawing/2014/main" val="53183532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lang="en-US" sz="1200">
                          <a:effectLst/>
                        </a:rPr>
                        <a:t>7</a:t>
                      </a:r>
                      <a:endParaRPr lang="en-US" sz="1100">
                        <a:solidFill>
                          <a:srgbClr val="333333"/>
                        </a:solidFill>
                        <a:effectLst/>
                        <a:latin typeface="Calibri" panose="020F050202020403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95250" marR="95250" marT="63500" marB="6350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lang="en-US" sz="1200">
                          <a:effectLst/>
                        </a:rPr>
                        <a:t>Toyota</a:t>
                      </a:r>
                      <a:endParaRPr lang="en-US" sz="1100">
                        <a:solidFill>
                          <a:srgbClr val="333333"/>
                        </a:solidFill>
                        <a:effectLst/>
                        <a:latin typeface="Calibri" panose="020F050202020403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95250" marR="95250" marT="63500" marB="6350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lang="en-US" sz="1200">
                          <a:effectLst/>
                        </a:rPr>
                        <a:t>$10,200.00</a:t>
                      </a:r>
                      <a:endParaRPr lang="en-US" sz="1100">
                        <a:solidFill>
                          <a:srgbClr val="333333"/>
                        </a:solidFill>
                        <a:effectLst/>
                        <a:latin typeface="Calibri" panose="020F050202020403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95250" marR="95250" marT="63500" marB="63500"/>
                </a:tc>
                <a:extLst>
                  <a:ext uri="{0D108BD9-81ED-4DB2-BD59-A6C34878D82A}">
                    <a16:rowId xmlns:a16="http://schemas.microsoft.com/office/drawing/2014/main" val="103144914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lang="en-US" sz="1200" dirty="0">
                          <a:effectLst/>
                        </a:rPr>
                        <a:t>8</a:t>
                      </a:r>
                      <a:endParaRPr lang="en-US" sz="1100" dirty="0">
                        <a:solidFill>
                          <a:srgbClr val="333333"/>
                        </a:solidFill>
                        <a:effectLst/>
                        <a:latin typeface="Calibri" panose="020F050202020403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95250" marR="95250" marT="63500" marB="6350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lang="en-US" sz="1200">
                          <a:effectLst/>
                        </a:rPr>
                        <a:t>Ford</a:t>
                      </a:r>
                      <a:endParaRPr lang="en-US" sz="1100">
                        <a:solidFill>
                          <a:srgbClr val="333333"/>
                        </a:solidFill>
                        <a:effectLst/>
                        <a:latin typeface="Calibri" panose="020F050202020403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95250" marR="95250" marT="63500" marB="6350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lang="en-US" sz="1200">
                          <a:effectLst/>
                        </a:rPr>
                        <a:t>$9,800.00</a:t>
                      </a:r>
                      <a:endParaRPr lang="en-US" sz="1100">
                        <a:solidFill>
                          <a:srgbClr val="333333"/>
                        </a:solidFill>
                        <a:effectLst/>
                        <a:latin typeface="Calibri" panose="020F050202020403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95250" marR="95250" marT="63500" marB="63500"/>
                </a:tc>
                <a:extLst>
                  <a:ext uri="{0D108BD9-81ED-4DB2-BD59-A6C34878D82A}">
                    <a16:rowId xmlns:a16="http://schemas.microsoft.com/office/drawing/2014/main" val="201759801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lang="en-US" sz="1200">
                          <a:effectLst/>
                        </a:rPr>
                        <a:t>9</a:t>
                      </a:r>
                      <a:endParaRPr lang="en-US" sz="1100">
                        <a:solidFill>
                          <a:srgbClr val="333333"/>
                        </a:solidFill>
                        <a:effectLst/>
                        <a:latin typeface="Calibri" panose="020F050202020403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95250" marR="95250" marT="63500" marB="6350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lang="en-US" sz="1200">
                          <a:effectLst/>
                        </a:rPr>
                        <a:t>Honda</a:t>
                      </a:r>
                      <a:endParaRPr lang="en-US" sz="1100">
                        <a:solidFill>
                          <a:srgbClr val="333333"/>
                        </a:solidFill>
                        <a:effectLst/>
                        <a:latin typeface="Calibri" panose="020F050202020403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95250" marR="95250" marT="63500" marB="6350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lang="en-US" sz="1200">
                          <a:effectLst/>
                        </a:rPr>
                        <a:t>$8,900.00</a:t>
                      </a:r>
                      <a:endParaRPr lang="en-US" sz="1100">
                        <a:solidFill>
                          <a:srgbClr val="333333"/>
                        </a:solidFill>
                        <a:effectLst/>
                        <a:latin typeface="Calibri" panose="020F050202020403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95250" marR="95250" marT="63500" marB="63500"/>
                </a:tc>
                <a:extLst>
                  <a:ext uri="{0D108BD9-81ED-4DB2-BD59-A6C34878D82A}">
                    <a16:rowId xmlns:a16="http://schemas.microsoft.com/office/drawing/2014/main" val="179893952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lang="en-US" sz="1200" dirty="0">
                          <a:effectLst/>
                        </a:rPr>
                        <a:t>10</a:t>
                      </a:r>
                      <a:endParaRPr lang="en-US" sz="1100" dirty="0">
                        <a:solidFill>
                          <a:srgbClr val="333333"/>
                        </a:solidFill>
                        <a:effectLst/>
                        <a:latin typeface="Calibri" panose="020F050202020403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95250" marR="95250" marT="63500" marB="6350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lang="en-US" sz="1200">
                          <a:effectLst/>
                        </a:rPr>
                        <a:t>Chevrolet</a:t>
                      </a:r>
                      <a:endParaRPr lang="en-US" sz="1100">
                        <a:solidFill>
                          <a:srgbClr val="333333"/>
                        </a:solidFill>
                        <a:effectLst/>
                        <a:latin typeface="Calibri" panose="020F050202020403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95250" marR="95250" marT="63500" marB="6350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lang="en-US" sz="1200" dirty="0">
                          <a:effectLst/>
                        </a:rPr>
                        <a:t>$7,500.00</a:t>
                      </a:r>
                      <a:endParaRPr lang="en-US" sz="1100" dirty="0">
                        <a:solidFill>
                          <a:srgbClr val="333333"/>
                        </a:solidFill>
                        <a:effectLst/>
                        <a:latin typeface="Calibri" panose="020F050202020403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95250" marR="95250" marT="63500" marB="63500"/>
                </a:tc>
                <a:extLst>
                  <a:ext uri="{0D108BD9-81ED-4DB2-BD59-A6C34878D82A}">
                    <a16:rowId xmlns:a16="http://schemas.microsoft.com/office/drawing/2014/main" val="1706932739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D8D69D53-0A63-D1E6-8CD0-17E3E267372F}"/>
              </a:ext>
            </a:extLst>
          </p:cNvPr>
          <p:cNvSpPr txBox="1"/>
          <p:nvPr/>
        </p:nvSpPr>
        <p:spPr>
          <a:xfrm>
            <a:off x="331500" y="262749"/>
            <a:ext cx="6390640" cy="417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lnSpc>
                <a:spcPct val="115000"/>
              </a:lnSpc>
              <a:spcBef>
                <a:spcPts val="2400"/>
              </a:spcBef>
              <a:spcAft>
                <a:spcPts val="0"/>
              </a:spcAft>
            </a:pPr>
            <a:r>
              <a:rPr lang="en-US" sz="2000" b="1" kern="0" dirty="0">
                <a:solidFill>
                  <a:srgbClr val="1B365D"/>
                </a:solidFill>
                <a:effectLst/>
                <a:latin typeface="Georgia" panose="02040502050405020303" pitchFamily="18" charset="0"/>
                <a:ea typeface="MS Gothic" panose="020B0609070205080204" pitchFamily="49" charset="-128"/>
                <a:cs typeface="Times New Roman" panose="02020603050405020304" pitchFamily="18" charset="0"/>
              </a:rPr>
              <a:t>Donation by Car Type</a:t>
            </a:r>
            <a:endParaRPr lang="en-US" sz="2000" b="1" kern="0" dirty="0">
              <a:solidFill>
                <a:srgbClr val="365F91"/>
              </a:solidFill>
              <a:effectLst/>
              <a:latin typeface="Georgia" panose="02040502050405020303" pitchFamily="18" charset="0"/>
              <a:ea typeface="MS Gothic" panose="020B0609070205080204" pitchFamily="49" charset="-128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3367511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FF271C1C-0FB5-98E3-0BB1-FC9DA36B771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01706491"/>
              </p:ext>
            </p:extLst>
          </p:nvPr>
        </p:nvGraphicFramePr>
        <p:xfrm>
          <a:off x="232265" y="523810"/>
          <a:ext cx="5943600" cy="1803276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981200">
                  <a:extLst>
                    <a:ext uri="{9D8B030D-6E8A-4147-A177-3AD203B41FA5}">
                      <a16:colId xmlns:a16="http://schemas.microsoft.com/office/drawing/2014/main" val="2903149359"/>
                    </a:ext>
                  </a:extLst>
                </a:gridCol>
                <a:gridCol w="1981200">
                  <a:extLst>
                    <a:ext uri="{9D8B030D-6E8A-4147-A177-3AD203B41FA5}">
                      <a16:colId xmlns:a16="http://schemas.microsoft.com/office/drawing/2014/main" val="278183194"/>
                    </a:ext>
                  </a:extLst>
                </a:gridCol>
                <a:gridCol w="1981200">
                  <a:extLst>
                    <a:ext uri="{9D8B030D-6E8A-4147-A177-3AD203B41FA5}">
                      <a16:colId xmlns:a16="http://schemas.microsoft.com/office/drawing/2014/main" val="36404547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050" dirty="0">
                          <a:effectLst/>
                        </a:rPr>
                        <a:t>PROFESSIONAL SECTOR</a:t>
                      </a:r>
                      <a:endParaRPr lang="en-US" sz="1050" dirty="0">
                        <a:solidFill>
                          <a:srgbClr val="333333"/>
                        </a:solidFill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95250" marR="95250" marT="63500" marB="6350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050" dirty="0">
                          <a:effectLst/>
                        </a:rPr>
                        <a:t>REVENUE</a:t>
                      </a:r>
                      <a:endParaRPr lang="en-US" sz="1050" dirty="0">
                        <a:solidFill>
                          <a:srgbClr val="333333"/>
                        </a:solidFill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95250" marR="95250" marT="63500" marB="6350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050">
                          <a:effectLst/>
                        </a:rPr>
                        <a:t>TRANSACTIONS</a:t>
                      </a:r>
                      <a:endParaRPr lang="en-US" sz="1050">
                        <a:solidFill>
                          <a:srgbClr val="333333"/>
                        </a:solidFill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95250" marR="95250" marT="63500" marB="63500"/>
                </a:tc>
                <a:extLst>
                  <a:ext uri="{0D108BD9-81ED-4DB2-BD59-A6C34878D82A}">
                    <a16:rowId xmlns:a16="http://schemas.microsoft.com/office/drawing/2014/main" val="19604604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050">
                          <a:effectLst/>
                        </a:rPr>
                        <a:t>Business Development</a:t>
                      </a:r>
                      <a:endParaRPr lang="en-US" sz="1050">
                        <a:solidFill>
                          <a:srgbClr val="333333"/>
                        </a:solidFill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95250" marR="95250" marT="63500" marB="6350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050">
                          <a:effectLst/>
                        </a:rPr>
                        <a:t>$42,150.00</a:t>
                      </a:r>
                      <a:endParaRPr lang="en-US" sz="1050">
                        <a:solidFill>
                          <a:srgbClr val="333333"/>
                        </a:solidFill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95250" marR="95250" marT="63500" marB="6350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050">
                          <a:effectLst/>
                        </a:rPr>
                        <a:t>165</a:t>
                      </a:r>
                      <a:endParaRPr lang="en-US" sz="1050">
                        <a:solidFill>
                          <a:srgbClr val="333333"/>
                        </a:solidFill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95250" marR="95250" marT="63500" marB="63500"/>
                </a:tc>
                <a:extLst>
                  <a:ext uri="{0D108BD9-81ED-4DB2-BD59-A6C34878D82A}">
                    <a16:rowId xmlns:a16="http://schemas.microsoft.com/office/drawing/2014/main" val="71636154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050">
                          <a:effectLst/>
                        </a:rPr>
                        <a:t>Engineering</a:t>
                      </a:r>
                      <a:endParaRPr lang="en-US" sz="1050">
                        <a:solidFill>
                          <a:srgbClr val="333333"/>
                        </a:solidFill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95250" marR="95250" marT="63500" marB="6350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050" dirty="0">
                          <a:effectLst/>
                        </a:rPr>
                        <a:t>$38,900.00</a:t>
                      </a:r>
                      <a:endParaRPr lang="en-US" sz="1050" dirty="0">
                        <a:solidFill>
                          <a:srgbClr val="333333"/>
                        </a:solidFill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95250" marR="95250" marT="63500" marB="6350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050">
                          <a:effectLst/>
                        </a:rPr>
                        <a:t>142</a:t>
                      </a:r>
                      <a:endParaRPr lang="en-US" sz="1050">
                        <a:solidFill>
                          <a:srgbClr val="333333"/>
                        </a:solidFill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95250" marR="95250" marT="63500" marB="63500"/>
                </a:tc>
                <a:extLst>
                  <a:ext uri="{0D108BD9-81ED-4DB2-BD59-A6C34878D82A}">
                    <a16:rowId xmlns:a16="http://schemas.microsoft.com/office/drawing/2014/main" val="44352667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050">
                          <a:effectLst/>
                        </a:rPr>
                        <a:t>Research &amp; Development</a:t>
                      </a:r>
                      <a:endParaRPr lang="en-US" sz="1050">
                        <a:solidFill>
                          <a:srgbClr val="333333"/>
                        </a:solidFill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95250" marR="95250" marT="63500" marB="6350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050">
                          <a:effectLst/>
                        </a:rPr>
                        <a:t>$35,400.00</a:t>
                      </a:r>
                      <a:endParaRPr lang="en-US" sz="1050">
                        <a:solidFill>
                          <a:srgbClr val="333333"/>
                        </a:solidFill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95250" marR="95250" marT="63500" marB="6350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050">
                          <a:effectLst/>
                        </a:rPr>
                        <a:t>130</a:t>
                      </a:r>
                      <a:endParaRPr lang="en-US" sz="1050">
                        <a:solidFill>
                          <a:srgbClr val="333333"/>
                        </a:solidFill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95250" marR="95250" marT="63500" marB="63500"/>
                </a:tc>
                <a:extLst>
                  <a:ext uri="{0D108BD9-81ED-4DB2-BD59-A6C34878D82A}">
                    <a16:rowId xmlns:a16="http://schemas.microsoft.com/office/drawing/2014/main" val="149099922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050">
                          <a:effectLst/>
                        </a:rPr>
                        <a:t>Legal</a:t>
                      </a:r>
                      <a:endParaRPr lang="en-US" sz="1050">
                        <a:solidFill>
                          <a:srgbClr val="333333"/>
                        </a:solidFill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95250" marR="95250" marT="63500" marB="6350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050">
                          <a:effectLst/>
                        </a:rPr>
                        <a:t>$31,200.00</a:t>
                      </a:r>
                      <a:endParaRPr lang="en-US" sz="1050">
                        <a:solidFill>
                          <a:srgbClr val="333333"/>
                        </a:solidFill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95250" marR="95250" marT="63500" marB="6350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050">
                          <a:effectLst/>
                        </a:rPr>
                        <a:t>115</a:t>
                      </a:r>
                      <a:endParaRPr lang="en-US" sz="1050">
                        <a:solidFill>
                          <a:srgbClr val="333333"/>
                        </a:solidFill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95250" marR="95250" marT="63500" marB="63500"/>
                </a:tc>
                <a:extLst>
                  <a:ext uri="{0D108BD9-81ED-4DB2-BD59-A6C34878D82A}">
                    <a16:rowId xmlns:a16="http://schemas.microsoft.com/office/drawing/2014/main" val="375631689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050">
                          <a:effectLst/>
                        </a:rPr>
                        <a:t>Marketing</a:t>
                      </a:r>
                      <a:endParaRPr lang="en-US" sz="1050">
                        <a:solidFill>
                          <a:srgbClr val="333333"/>
                        </a:solidFill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95250" marR="95250" marT="63500" marB="6350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050">
                          <a:effectLst/>
                        </a:rPr>
                        <a:t>$28,600.00</a:t>
                      </a:r>
                      <a:endParaRPr lang="en-US" sz="1050">
                        <a:solidFill>
                          <a:srgbClr val="333333"/>
                        </a:solidFill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95250" marR="95250" marT="63500" marB="6350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050" dirty="0">
                          <a:effectLst/>
                        </a:rPr>
                        <a:t>108</a:t>
                      </a:r>
                      <a:endParaRPr lang="en-US" sz="1050" dirty="0">
                        <a:solidFill>
                          <a:srgbClr val="333333"/>
                        </a:solidFill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95250" marR="95250" marT="63500" marB="63500"/>
                </a:tc>
                <a:extLst>
                  <a:ext uri="{0D108BD9-81ED-4DB2-BD59-A6C34878D82A}">
                    <a16:rowId xmlns:a16="http://schemas.microsoft.com/office/drawing/2014/main" val="2358311738"/>
                  </a:ext>
                </a:extLst>
              </a:tr>
            </a:tbl>
          </a:graphicData>
        </a:graphic>
      </p:graphicFrame>
      <p:sp>
        <p:nvSpPr>
          <p:cNvPr id="12" name="TextBox 11">
            <a:extLst>
              <a:ext uri="{FF2B5EF4-FFF2-40B4-BE49-F238E27FC236}">
                <a16:creationId xmlns:a16="http://schemas.microsoft.com/office/drawing/2014/main" id="{F4106D6F-EBDC-F634-E16D-21AE7F0213AE}"/>
              </a:ext>
            </a:extLst>
          </p:cNvPr>
          <p:cNvSpPr txBox="1"/>
          <p:nvPr/>
        </p:nvSpPr>
        <p:spPr>
          <a:xfrm>
            <a:off x="232265" y="101851"/>
            <a:ext cx="6096000" cy="417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</a:pPr>
            <a:r>
              <a:rPr lang="en-US" sz="2000" b="1" dirty="0">
                <a:effectLst/>
                <a:latin typeface="Georgia" panose="02040502050405020303" pitchFamily="18" charset="0"/>
                <a:ea typeface="MS Gothic" panose="020B0609070205080204" pitchFamily="49" charset="-128"/>
                <a:cs typeface="Times New Roman" panose="02020603050405020304" pitchFamily="18" charset="0"/>
              </a:rPr>
              <a:t>Revenue by Professional Sector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03D4BF42-62BD-EFB8-7BC7-096DD7188FE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68399988"/>
              </p:ext>
            </p:extLst>
          </p:nvPr>
        </p:nvGraphicFramePr>
        <p:xfrm>
          <a:off x="152400" y="2820982"/>
          <a:ext cx="5943600" cy="4037018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485900">
                  <a:extLst>
                    <a:ext uri="{9D8B030D-6E8A-4147-A177-3AD203B41FA5}">
                      <a16:colId xmlns:a16="http://schemas.microsoft.com/office/drawing/2014/main" val="151754384"/>
                    </a:ext>
                  </a:extLst>
                </a:gridCol>
                <a:gridCol w="1485900">
                  <a:extLst>
                    <a:ext uri="{9D8B030D-6E8A-4147-A177-3AD203B41FA5}">
                      <a16:colId xmlns:a16="http://schemas.microsoft.com/office/drawing/2014/main" val="90200122"/>
                    </a:ext>
                  </a:extLst>
                </a:gridCol>
                <a:gridCol w="1485900">
                  <a:extLst>
                    <a:ext uri="{9D8B030D-6E8A-4147-A177-3AD203B41FA5}">
                      <a16:colId xmlns:a16="http://schemas.microsoft.com/office/drawing/2014/main" val="3873997088"/>
                    </a:ext>
                  </a:extLst>
                </a:gridCol>
                <a:gridCol w="1485900">
                  <a:extLst>
                    <a:ext uri="{9D8B030D-6E8A-4147-A177-3AD203B41FA5}">
                      <a16:colId xmlns:a16="http://schemas.microsoft.com/office/drawing/2014/main" val="378704582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lang="en-US" sz="1200">
                          <a:effectLst/>
                        </a:rPr>
                        <a:t>Top 10 Highest-Grossing</a:t>
                      </a:r>
                      <a:endParaRPr lang="en-US" sz="1100">
                        <a:solidFill>
                          <a:srgbClr val="333333"/>
                        </a:solidFill>
                        <a:effectLst/>
                        <a:latin typeface="Calibri" panose="020F050202020403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95250" marR="95250" marT="76200" marB="7620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lang="en-US" sz="1200">
                          <a:effectLst/>
                        </a:rPr>
                        <a:t>Value</a:t>
                      </a:r>
                      <a:endParaRPr lang="en-US" sz="1100">
                        <a:solidFill>
                          <a:srgbClr val="333333"/>
                        </a:solidFill>
                        <a:effectLst/>
                        <a:latin typeface="Calibri" panose="020F050202020403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95250" marR="95250" marT="76200" marB="7620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lang="en-US" sz="1200">
                          <a:effectLst/>
                        </a:rPr>
                        <a:t>Top 10 Lowest-Grossing</a:t>
                      </a:r>
                      <a:endParaRPr lang="en-US" sz="1100">
                        <a:solidFill>
                          <a:srgbClr val="333333"/>
                        </a:solidFill>
                        <a:effectLst/>
                        <a:latin typeface="Calibri" panose="020F050202020403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95250" marR="95250" marT="76200" marB="7620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lang="en-US" sz="1200">
                          <a:effectLst/>
                        </a:rPr>
                        <a:t>Value</a:t>
                      </a:r>
                      <a:endParaRPr lang="en-US" sz="1100">
                        <a:solidFill>
                          <a:srgbClr val="333333"/>
                        </a:solidFill>
                        <a:effectLst/>
                        <a:latin typeface="Calibri" panose="020F050202020403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95250" marR="95250" marT="76200" marB="76200"/>
                </a:tc>
                <a:extLst>
                  <a:ext uri="{0D108BD9-81ED-4DB2-BD59-A6C34878D82A}">
                    <a16:rowId xmlns:a16="http://schemas.microsoft.com/office/drawing/2014/main" val="398547724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lang="en-US" sz="1200">
                          <a:effectLst/>
                        </a:rPr>
                        <a:t>California (CA)</a:t>
                      </a:r>
                      <a:endParaRPr lang="en-US" sz="1100">
                        <a:solidFill>
                          <a:srgbClr val="333333"/>
                        </a:solidFill>
                        <a:effectLst/>
                        <a:latin typeface="Calibri" panose="020F050202020403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95250" marR="95250" marT="63500" marB="6350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lang="en-US" sz="1200">
                          <a:effectLst/>
                        </a:rPr>
                        <a:t>$34,500.00</a:t>
                      </a:r>
                      <a:endParaRPr lang="en-US" sz="1100">
                        <a:solidFill>
                          <a:srgbClr val="333333"/>
                        </a:solidFill>
                        <a:effectLst/>
                        <a:latin typeface="Calibri" panose="020F050202020403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95250" marR="95250" marT="63500" marB="6350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lang="en-US" sz="1200">
                          <a:effectLst/>
                        </a:rPr>
                        <a:t>Wyoming (WY)</a:t>
                      </a:r>
                      <a:endParaRPr lang="en-US" sz="1100">
                        <a:solidFill>
                          <a:srgbClr val="333333"/>
                        </a:solidFill>
                        <a:effectLst/>
                        <a:latin typeface="Calibri" panose="020F050202020403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95250" marR="95250" marT="63500" marB="6350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lang="en-US" sz="1200">
                          <a:effectLst/>
                        </a:rPr>
                        <a:t>$450.00</a:t>
                      </a:r>
                      <a:endParaRPr lang="en-US" sz="1100">
                        <a:solidFill>
                          <a:srgbClr val="333333"/>
                        </a:solidFill>
                        <a:effectLst/>
                        <a:latin typeface="Calibri" panose="020F050202020403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95250" marR="95250" marT="63500" marB="63500"/>
                </a:tc>
                <a:extLst>
                  <a:ext uri="{0D108BD9-81ED-4DB2-BD59-A6C34878D82A}">
                    <a16:rowId xmlns:a16="http://schemas.microsoft.com/office/drawing/2014/main" val="232786571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lang="en-US" sz="1200">
                          <a:effectLst/>
                        </a:rPr>
                        <a:t>New York (NY)</a:t>
                      </a:r>
                      <a:endParaRPr lang="en-US" sz="1100">
                        <a:solidFill>
                          <a:srgbClr val="333333"/>
                        </a:solidFill>
                        <a:effectLst/>
                        <a:latin typeface="Calibri" panose="020F050202020403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95250" marR="95250" marT="63500" marB="6350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lang="en-US" sz="1200">
                          <a:effectLst/>
                        </a:rPr>
                        <a:t>$29,100.00</a:t>
                      </a:r>
                      <a:endParaRPr lang="en-US" sz="1100">
                        <a:solidFill>
                          <a:srgbClr val="333333"/>
                        </a:solidFill>
                        <a:effectLst/>
                        <a:latin typeface="Calibri" panose="020F050202020403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95250" marR="95250" marT="63500" marB="6350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lang="en-US" sz="1200">
                          <a:effectLst/>
                        </a:rPr>
                        <a:t>Vermont (VT)</a:t>
                      </a:r>
                      <a:endParaRPr lang="en-US" sz="1100">
                        <a:solidFill>
                          <a:srgbClr val="333333"/>
                        </a:solidFill>
                        <a:effectLst/>
                        <a:latin typeface="Calibri" panose="020F050202020403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95250" marR="95250" marT="63500" marB="6350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lang="en-US" sz="1200">
                          <a:effectLst/>
                        </a:rPr>
                        <a:t>$620.00</a:t>
                      </a:r>
                      <a:endParaRPr lang="en-US" sz="1100">
                        <a:solidFill>
                          <a:srgbClr val="333333"/>
                        </a:solidFill>
                        <a:effectLst/>
                        <a:latin typeface="Calibri" panose="020F050202020403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95250" marR="95250" marT="63500" marB="63500"/>
                </a:tc>
                <a:extLst>
                  <a:ext uri="{0D108BD9-81ED-4DB2-BD59-A6C34878D82A}">
                    <a16:rowId xmlns:a16="http://schemas.microsoft.com/office/drawing/2014/main" val="316355591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lang="en-US" sz="1200">
                          <a:effectLst/>
                        </a:rPr>
                        <a:t>Texas (TX)</a:t>
                      </a:r>
                      <a:endParaRPr lang="en-US" sz="1100">
                        <a:solidFill>
                          <a:srgbClr val="333333"/>
                        </a:solidFill>
                        <a:effectLst/>
                        <a:latin typeface="Calibri" panose="020F050202020403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95250" marR="95250" marT="63500" marB="6350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lang="en-US" sz="1200">
                          <a:effectLst/>
                        </a:rPr>
                        <a:t>$25,400.00</a:t>
                      </a:r>
                      <a:endParaRPr lang="en-US" sz="1100">
                        <a:solidFill>
                          <a:srgbClr val="333333"/>
                        </a:solidFill>
                        <a:effectLst/>
                        <a:latin typeface="Calibri" panose="020F050202020403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95250" marR="95250" marT="63500" marB="6350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lang="en-US" sz="1200">
                          <a:effectLst/>
                        </a:rPr>
                        <a:t>North Dakota (ND)</a:t>
                      </a:r>
                      <a:endParaRPr lang="en-US" sz="1100">
                        <a:solidFill>
                          <a:srgbClr val="333333"/>
                        </a:solidFill>
                        <a:effectLst/>
                        <a:latin typeface="Calibri" panose="020F050202020403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95250" marR="95250" marT="63500" marB="6350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lang="en-US" sz="1200">
                          <a:effectLst/>
                        </a:rPr>
                        <a:t>$780.00</a:t>
                      </a:r>
                      <a:endParaRPr lang="en-US" sz="1100">
                        <a:solidFill>
                          <a:srgbClr val="333333"/>
                        </a:solidFill>
                        <a:effectLst/>
                        <a:latin typeface="Calibri" panose="020F050202020403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95250" marR="95250" marT="63500" marB="63500"/>
                </a:tc>
                <a:extLst>
                  <a:ext uri="{0D108BD9-81ED-4DB2-BD59-A6C34878D82A}">
                    <a16:rowId xmlns:a16="http://schemas.microsoft.com/office/drawing/2014/main" val="44728063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lang="en-US" sz="1200">
                          <a:effectLst/>
                        </a:rPr>
                        <a:t>Florida (FL)</a:t>
                      </a:r>
                      <a:endParaRPr lang="en-US" sz="1100">
                        <a:solidFill>
                          <a:srgbClr val="333333"/>
                        </a:solidFill>
                        <a:effectLst/>
                        <a:latin typeface="Calibri" panose="020F050202020403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95250" marR="95250" marT="63500" marB="6350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lang="en-US" sz="1200">
                          <a:effectLst/>
                        </a:rPr>
                        <a:t>$21,200.00</a:t>
                      </a:r>
                      <a:endParaRPr lang="en-US" sz="1100">
                        <a:solidFill>
                          <a:srgbClr val="333333"/>
                        </a:solidFill>
                        <a:effectLst/>
                        <a:latin typeface="Calibri" panose="020F050202020403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95250" marR="95250" marT="63500" marB="6350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lang="en-US" sz="1200">
                          <a:effectLst/>
                        </a:rPr>
                        <a:t>Alaska (AK)</a:t>
                      </a:r>
                      <a:endParaRPr lang="en-US" sz="1100">
                        <a:solidFill>
                          <a:srgbClr val="333333"/>
                        </a:solidFill>
                        <a:effectLst/>
                        <a:latin typeface="Calibri" panose="020F050202020403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95250" marR="95250" marT="63500" marB="6350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lang="en-US" sz="1200">
                          <a:effectLst/>
                        </a:rPr>
                        <a:t>$950.00</a:t>
                      </a:r>
                      <a:endParaRPr lang="en-US" sz="1100">
                        <a:solidFill>
                          <a:srgbClr val="333333"/>
                        </a:solidFill>
                        <a:effectLst/>
                        <a:latin typeface="Calibri" panose="020F050202020403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95250" marR="95250" marT="63500" marB="63500"/>
                </a:tc>
                <a:extLst>
                  <a:ext uri="{0D108BD9-81ED-4DB2-BD59-A6C34878D82A}">
                    <a16:rowId xmlns:a16="http://schemas.microsoft.com/office/drawing/2014/main" val="181361779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lang="en-US" sz="1200">
                          <a:effectLst/>
                        </a:rPr>
                        <a:t>Illinois (IL)</a:t>
                      </a:r>
                      <a:endParaRPr lang="en-US" sz="1100">
                        <a:solidFill>
                          <a:srgbClr val="333333"/>
                        </a:solidFill>
                        <a:effectLst/>
                        <a:latin typeface="Calibri" panose="020F050202020403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95250" marR="95250" marT="63500" marB="6350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lang="en-US" sz="1200">
                          <a:effectLst/>
                        </a:rPr>
                        <a:t>$18,900.00</a:t>
                      </a:r>
                      <a:endParaRPr lang="en-US" sz="1100">
                        <a:solidFill>
                          <a:srgbClr val="333333"/>
                        </a:solidFill>
                        <a:effectLst/>
                        <a:latin typeface="Calibri" panose="020F050202020403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95250" marR="95250" marT="63500" marB="6350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lang="en-US" sz="1200">
                          <a:effectLst/>
                        </a:rPr>
                        <a:t>South Dakota (SD)</a:t>
                      </a:r>
                      <a:endParaRPr lang="en-US" sz="1100">
                        <a:solidFill>
                          <a:srgbClr val="333333"/>
                        </a:solidFill>
                        <a:effectLst/>
                        <a:latin typeface="Calibri" panose="020F050202020403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95250" marR="95250" marT="63500" marB="6350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lang="en-US" sz="1200">
                          <a:effectLst/>
                        </a:rPr>
                        <a:t>$1,100.00</a:t>
                      </a:r>
                      <a:endParaRPr lang="en-US" sz="1100">
                        <a:solidFill>
                          <a:srgbClr val="333333"/>
                        </a:solidFill>
                        <a:effectLst/>
                        <a:latin typeface="Calibri" panose="020F050202020403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95250" marR="95250" marT="63500" marB="63500"/>
                </a:tc>
                <a:extLst>
                  <a:ext uri="{0D108BD9-81ED-4DB2-BD59-A6C34878D82A}">
                    <a16:rowId xmlns:a16="http://schemas.microsoft.com/office/drawing/2014/main" val="428766339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lang="en-US" sz="1200">
                          <a:effectLst/>
                        </a:rPr>
                        <a:t>Pennsylvania (PA)</a:t>
                      </a:r>
                      <a:endParaRPr lang="en-US" sz="1100">
                        <a:solidFill>
                          <a:srgbClr val="333333"/>
                        </a:solidFill>
                        <a:effectLst/>
                        <a:latin typeface="Calibri" panose="020F050202020403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95250" marR="95250" marT="63500" marB="6350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lang="en-US" sz="1200">
                          <a:effectLst/>
                        </a:rPr>
                        <a:t>$15,600.00</a:t>
                      </a:r>
                      <a:endParaRPr lang="en-US" sz="1100">
                        <a:solidFill>
                          <a:srgbClr val="333333"/>
                        </a:solidFill>
                        <a:effectLst/>
                        <a:latin typeface="Calibri" panose="020F050202020403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95250" marR="95250" marT="63500" marB="6350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lang="en-US" sz="1200">
                          <a:effectLst/>
                        </a:rPr>
                        <a:t>Delaware (DE)</a:t>
                      </a:r>
                      <a:endParaRPr lang="en-US" sz="1100">
                        <a:solidFill>
                          <a:srgbClr val="333333"/>
                        </a:solidFill>
                        <a:effectLst/>
                        <a:latin typeface="Calibri" panose="020F050202020403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95250" marR="95250" marT="63500" marB="6350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lang="en-US" sz="1200">
                          <a:effectLst/>
                        </a:rPr>
                        <a:t>$1,350.00</a:t>
                      </a:r>
                      <a:endParaRPr lang="en-US" sz="1100">
                        <a:solidFill>
                          <a:srgbClr val="333333"/>
                        </a:solidFill>
                        <a:effectLst/>
                        <a:latin typeface="Calibri" panose="020F050202020403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95250" marR="95250" marT="63500" marB="63500"/>
                </a:tc>
                <a:extLst>
                  <a:ext uri="{0D108BD9-81ED-4DB2-BD59-A6C34878D82A}">
                    <a16:rowId xmlns:a16="http://schemas.microsoft.com/office/drawing/2014/main" val="302142617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lang="en-US" sz="1200">
                          <a:effectLst/>
                        </a:rPr>
                        <a:t>Ohio (OH)</a:t>
                      </a:r>
                      <a:endParaRPr lang="en-US" sz="1100">
                        <a:solidFill>
                          <a:srgbClr val="333333"/>
                        </a:solidFill>
                        <a:effectLst/>
                        <a:latin typeface="Calibri" panose="020F050202020403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95250" marR="95250" marT="63500" marB="6350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lang="en-US" sz="1200">
                          <a:effectLst/>
                        </a:rPr>
                        <a:t>$13,200.00</a:t>
                      </a:r>
                      <a:endParaRPr lang="en-US" sz="1100">
                        <a:solidFill>
                          <a:srgbClr val="333333"/>
                        </a:solidFill>
                        <a:effectLst/>
                        <a:latin typeface="Calibri" panose="020F050202020403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95250" marR="95250" marT="63500" marB="6350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lang="en-US" sz="1200">
                          <a:effectLst/>
                        </a:rPr>
                        <a:t>Montana (MT)</a:t>
                      </a:r>
                      <a:endParaRPr lang="en-US" sz="1100">
                        <a:solidFill>
                          <a:srgbClr val="333333"/>
                        </a:solidFill>
                        <a:effectLst/>
                        <a:latin typeface="Calibri" panose="020F050202020403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95250" marR="95250" marT="63500" marB="6350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lang="en-US" sz="1200">
                          <a:effectLst/>
                        </a:rPr>
                        <a:t>$1,600.00</a:t>
                      </a:r>
                      <a:endParaRPr lang="en-US" sz="1100">
                        <a:solidFill>
                          <a:srgbClr val="333333"/>
                        </a:solidFill>
                        <a:effectLst/>
                        <a:latin typeface="Calibri" panose="020F050202020403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95250" marR="95250" marT="63500" marB="63500"/>
                </a:tc>
                <a:extLst>
                  <a:ext uri="{0D108BD9-81ED-4DB2-BD59-A6C34878D82A}">
                    <a16:rowId xmlns:a16="http://schemas.microsoft.com/office/drawing/2014/main" val="177523108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lang="en-US" sz="1200">
                          <a:effectLst/>
                        </a:rPr>
                        <a:t>Georgia (GA)</a:t>
                      </a:r>
                      <a:endParaRPr lang="en-US" sz="1100">
                        <a:solidFill>
                          <a:srgbClr val="333333"/>
                        </a:solidFill>
                        <a:effectLst/>
                        <a:latin typeface="Calibri" panose="020F050202020403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95250" marR="95250" marT="63500" marB="6350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lang="en-US" sz="1200">
                          <a:effectLst/>
                        </a:rPr>
                        <a:t>$11,800.00</a:t>
                      </a:r>
                      <a:endParaRPr lang="en-US" sz="1100">
                        <a:solidFill>
                          <a:srgbClr val="333333"/>
                        </a:solidFill>
                        <a:effectLst/>
                        <a:latin typeface="Calibri" panose="020F050202020403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95250" marR="95250" marT="63500" marB="6350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lang="en-US" sz="1200">
                          <a:effectLst/>
                        </a:rPr>
                        <a:t>Rhode Island (RI)</a:t>
                      </a:r>
                      <a:endParaRPr lang="en-US" sz="1100">
                        <a:solidFill>
                          <a:srgbClr val="333333"/>
                        </a:solidFill>
                        <a:effectLst/>
                        <a:latin typeface="Calibri" panose="020F050202020403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95250" marR="95250" marT="63500" marB="6350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lang="en-US" sz="1200">
                          <a:effectLst/>
                        </a:rPr>
                        <a:t>$1,850.00</a:t>
                      </a:r>
                      <a:endParaRPr lang="en-US" sz="1100">
                        <a:solidFill>
                          <a:srgbClr val="333333"/>
                        </a:solidFill>
                        <a:effectLst/>
                        <a:latin typeface="Calibri" panose="020F050202020403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95250" marR="95250" marT="63500" marB="63500"/>
                </a:tc>
                <a:extLst>
                  <a:ext uri="{0D108BD9-81ED-4DB2-BD59-A6C34878D82A}">
                    <a16:rowId xmlns:a16="http://schemas.microsoft.com/office/drawing/2014/main" val="370432446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lang="en-US" sz="1200">
                          <a:effectLst/>
                        </a:rPr>
                        <a:t>North Carolina (NC)</a:t>
                      </a:r>
                      <a:endParaRPr lang="en-US" sz="1100">
                        <a:solidFill>
                          <a:srgbClr val="333333"/>
                        </a:solidFill>
                        <a:effectLst/>
                        <a:latin typeface="Calibri" panose="020F050202020403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95250" marR="95250" marT="63500" marB="6350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lang="en-US" sz="1200">
                          <a:effectLst/>
                        </a:rPr>
                        <a:t>$10,500.00</a:t>
                      </a:r>
                      <a:endParaRPr lang="en-US" sz="1100">
                        <a:solidFill>
                          <a:srgbClr val="333333"/>
                        </a:solidFill>
                        <a:effectLst/>
                        <a:latin typeface="Calibri" panose="020F050202020403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95250" marR="95250" marT="63500" marB="6350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lang="en-US" sz="1200">
                          <a:effectLst/>
                        </a:rPr>
                        <a:t>Maine (ME)</a:t>
                      </a:r>
                      <a:endParaRPr lang="en-US" sz="1100">
                        <a:solidFill>
                          <a:srgbClr val="333333"/>
                        </a:solidFill>
                        <a:effectLst/>
                        <a:latin typeface="Calibri" panose="020F050202020403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95250" marR="95250" marT="63500" marB="6350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lang="en-US" sz="1200">
                          <a:effectLst/>
                        </a:rPr>
                        <a:t>$2,100.00</a:t>
                      </a:r>
                      <a:endParaRPr lang="en-US" sz="1100">
                        <a:solidFill>
                          <a:srgbClr val="333333"/>
                        </a:solidFill>
                        <a:effectLst/>
                        <a:latin typeface="Calibri" panose="020F050202020403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95250" marR="95250" marT="63500" marB="63500"/>
                </a:tc>
                <a:extLst>
                  <a:ext uri="{0D108BD9-81ED-4DB2-BD59-A6C34878D82A}">
                    <a16:rowId xmlns:a16="http://schemas.microsoft.com/office/drawing/2014/main" val="90903719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lang="en-US" sz="1200">
                          <a:effectLst/>
                        </a:rPr>
                        <a:t>Michigan (MI)</a:t>
                      </a:r>
                      <a:endParaRPr lang="en-US" sz="1100">
                        <a:solidFill>
                          <a:srgbClr val="333333"/>
                        </a:solidFill>
                        <a:effectLst/>
                        <a:latin typeface="Calibri" panose="020F050202020403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95250" marR="95250" marT="63500" marB="6350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lang="en-US" sz="1200">
                          <a:effectLst/>
                        </a:rPr>
                        <a:t>$9,650.00</a:t>
                      </a:r>
                      <a:endParaRPr lang="en-US" sz="1100">
                        <a:solidFill>
                          <a:srgbClr val="333333"/>
                        </a:solidFill>
                        <a:effectLst/>
                        <a:latin typeface="Calibri" panose="020F050202020403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95250" marR="95250" marT="63500" marB="6350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lang="en-US" sz="1200">
                          <a:effectLst/>
                        </a:rPr>
                        <a:t>Hawaii (HI)</a:t>
                      </a:r>
                      <a:endParaRPr lang="en-US" sz="1100">
                        <a:solidFill>
                          <a:srgbClr val="333333"/>
                        </a:solidFill>
                        <a:effectLst/>
                        <a:latin typeface="Calibri" panose="020F050202020403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95250" marR="95250" marT="63500" marB="6350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lang="en-US" sz="1200" dirty="0">
                          <a:effectLst/>
                        </a:rPr>
                        <a:t>$2,400.00</a:t>
                      </a:r>
                      <a:endParaRPr lang="en-US" sz="1100" dirty="0">
                        <a:solidFill>
                          <a:srgbClr val="333333"/>
                        </a:solidFill>
                        <a:effectLst/>
                        <a:latin typeface="Calibri" panose="020F050202020403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95250" marR="95250" marT="63500" marB="63500"/>
                </a:tc>
                <a:extLst>
                  <a:ext uri="{0D108BD9-81ED-4DB2-BD59-A6C34878D82A}">
                    <a16:rowId xmlns:a16="http://schemas.microsoft.com/office/drawing/2014/main" val="2884973658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32B528B4-B6F9-C3C9-671F-26637A722AFA}"/>
              </a:ext>
            </a:extLst>
          </p:cNvPr>
          <p:cNvSpPr txBox="1"/>
          <p:nvPr/>
        </p:nvSpPr>
        <p:spPr>
          <a:xfrm>
            <a:off x="152400" y="2451650"/>
            <a:ext cx="609777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dirty="0">
                <a:effectLst/>
                <a:latin typeface="Georgia" panose="02040502050405020303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Geographic Rank Analysis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69174695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04FF0D7-8B45-1921-F604-605AC280233E}"/>
              </a:ext>
            </a:extLst>
          </p:cNvPr>
          <p:cNvSpPr txBox="1"/>
          <p:nvPr/>
        </p:nvSpPr>
        <p:spPr>
          <a:xfrm>
            <a:off x="433336" y="3364095"/>
            <a:ext cx="10109200" cy="34939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lnSpc>
                <a:spcPct val="115000"/>
              </a:lnSpc>
              <a:spcBef>
                <a:spcPts val="2400"/>
              </a:spcBef>
              <a:spcAft>
                <a:spcPts val="0"/>
              </a:spcAft>
            </a:pPr>
            <a:r>
              <a:rPr lang="en-US" sz="2800" b="1" kern="0" dirty="0">
                <a:effectLst/>
                <a:latin typeface="Georgia" panose="02040502050405020303" pitchFamily="18" charset="0"/>
                <a:ea typeface="MS Gothic" panose="020B0609070205080204" pitchFamily="49" charset="-128"/>
                <a:cs typeface="Times New Roman" panose="02020603050405020304" pitchFamily="18" charset="0"/>
              </a:rPr>
              <a:t>Action Plan &amp; Strategy Roadmap</a:t>
            </a:r>
          </a:p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1800" b="1" dirty="0">
                <a:effectLst/>
                <a:latin typeface="Georgia" panose="02040502050405020303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1. Stewardship: </a:t>
            </a:r>
            <a:r>
              <a:rPr lang="en-US" sz="1800" dirty="0">
                <a:effectLst/>
                <a:latin typeface="Georgia" panose="02040502050405020303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Launch the 'Chancellor's Circle' program targeting high-value professional fields (Business Development, Engineering, Legal).</a:t>
            </a:r>
          </a:p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1800" b="1" dirty="0">
                <a:effectLst/>
                <a:latin typeface="Georgia" panose="02040502050405020303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2. Corporate: </a:t>
            </a:r>
            <a:r>
              <a:rPr lang="en-US" sz="1800" dirty="0">
                <a:effectLst/>
                <a:latin typeface="Georgia" panose="02040502050405020303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Establish corporate gift-matching paths within high-performing business development and design teams.</a:t>
            </a:r>
          </a:p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1800" b="1" dirty="0">
                <a:effectLst/>
                <a:latin typeface="Georgia" panose="02040502050405020303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3. Geography: </a:t>
            </a:r>
            <a:r>
              <a:rPr lang="en-US" sz="1800" dirty="0">
                <a:effectLst/>
                <a:latin typeface="Georgia" panose="02040502050405020303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Focus heavy physical campaigns on CA, NY, and TX. Redirect low-yield states into automated email pipelines.</a:t>
            </a:r>
          </a:p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1800" b="1" dirty="0">
                <a:effectLst/>
                <a:latin typeface="Georgia" panose="02040502050405020303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4. Affinity: </a:t>
            </a:r>
            <a:r>
              <a:rPr lang="en-US" sz="1800" dirty="0">
                <a:effectLst/>
                <a:latin typeface="Georgia" panose="02040502050405020303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Develop lifestyle charity experiences matching clean energy/luxury automobile partnerships.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2A19D6A-D38B-D577-141B-FEA7F52DA9D6}"/>
              </a:ext>
            </a:extLst>
          </p:cNvPr>
          <p:cNvSpPr txBox="1"/>
          <p:nvPr/>
        </p:nvSpPr>
        <p:spPr>
          <a:xfrm>
            <a:off x="819002" y="2742087"/>
            <a:ext cx="609777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>
                <a:effectLst/>
                <a:latin typeface="Georgia" panose="02040502050405020303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OTHER RECOMMENDATIONS </a:t>
            </a:r>
            <a:endParaRPr lang="en-US" sz="2800" b="1" dirty="0">
              <a:latin typeface="Georgia" panose="02040502050405020303" pitchFamily="18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6171D92-105D-9303-EFFE-8F373D5530A7}"/>
              </a:ext>
            </a:extLst>
          </p:cNvPr>
          <p:cNvSpPr txBox="1"/>
          <p:nvPr/>
        </p:nvSpPr>
        <p:spPr>
          <a:xfrm>
            <a:off x="327128" y="108823"/>
            <a:ext cx="7081520" cy="24729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</a:pPr>
            <a:r>
              <a:rPr lang="en-US" sz="2800" b="1" dirty="0">
                <a:effectLst/>
                <a:latin typeface="Georgia" panose="02040502050405020303" pitchFamily="18" charset="0"/>
                <a:ea typeface="MS Gothic" panose="020B0609070205080204" pitchFamily="49" charset="-128"/>
                <a:cs typeface="Times New Roman" panose="02020603050405020304" pitchFamily="18" charset="0"/>
              </a:rPr>
              <a:t>Media Habits &amp; Strategic Matching</a:t>
            </a:r>
          </a:p>
          <a:p>
            <a:pPr marL="342900" marR="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  <a:tabLst>
                <a:tab pos="228600" algn="l"/>
              </a:tabLst>
            </a:pPr>
            <a:r>
              <a:rPr lang="en-US" sz="1800" dirty="0">
                <a:effectLst/>
                <a:latin typeface="Georgia" panose="02040502050405020303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Top Movie Genres: Donors align heavily with intellectual, high-narrative entertainment, specifically Drama &amp; Comedy leading segments.</a:t>
            </a:r>
          </a:p>
          <a:p>
            <a:pPr marL="342900" marR="0" lvl="0" indent="-34290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"/>
              <a:tabLst>
                <a:tab pos="228600" algn="l"/>
              </a:tabLst>
            </a:pPr>
            <a:r>
              <a:rPr lang="en-US" sz="1800" dirty="0">
                <a:effectLst/>
                <a:latin typeface="Georgia" panose="02040502050405020303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Strategic Match: Align direct mail and premium event invites with eco-friendly corporate networks or exclusive independent film previews.</a:t>
            </a:r>
          </a:p>
        </p:txBody>
      </p:sp>
    </p:spTree>
    <p:extLst>
      <p:ext uri="{BB962C8B-B14F-4D97-AF65-F5344CB8AC3E}">
        <p14:creationId xmlns:p14="http://schemas.microsoft.com/office/powerpoint/2010/main" val="256752760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8BD42B-38E8-9A89-43DA-6E19B9EA33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8280" y="2590165"/>
            <a:ext cx="10515600" cy="1325563"/>
          </a:xfrm>
        </p:spPr>
        <p:txBody>
          <a:bodyPr/>
          <a:lstStyle/>
          <a:p>
            <a:pPr algn="ctr"/>
            <a:r>
              <a:rPr lang="en-US" b="1" dirty="0">
                <a:latin typeface="Georgia" panose="02040502050405020303" pitchFamily="18" charset="0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269654987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1491</TotalTime>
  <Words>697</Words>
  <Application>Microsoft Office PowerPoint</Application>
  <PresentationFormat>Widescreen</PresentationFormat>
  <Paragraphs>144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5" baseType="lpstr">
      <vt:lpstr>Aptos</vt:lpstr>
      <vt:lpstr>Aptos Display</vt:lpstr>
      <vt:lpstr>Arial</vt:lpstr>
      <vt:lpstr>Calibri</vt:lpstr>
      <vt:lpstr>Georgia</vt:lpstr>
      <vt:lpstr>Symbol</vt:lpstr>
      <vt:lpstr>Office Theme</vt:lpstr>
      <vt:lpstr>PowerPoint Presentation</vt:lpstr>
      <vt:lpstr>Executive Summary</vt:lpstr>
      <vt:lpstr>PowerPoint Presentation</vt:lpstr>
      <vt:lpstr>ANALYSIS AND FINDINGS</vt:lpstr>
      <vt:lpstr>PowerPoint Presentation</vt:lpstr>
      <vt:lpstr>PowerPoint Presentation</vt:lpstr>
      <vt:lpstr>PowerPoint Presentation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janefrances</dc:creator>
  <cp:lastModifiedBy>janefrances</cp:lastModifiedBy>
  <cp:revision>6</cp:revision>
  <dcterms:created xsi:type="dcterms:W3CDTF">2026-06-29T09:53:01Z</dcterms:created>
  <dcterms:modified xsi:type="dcterms:W3CDTF">2026-07-07T03:40:43Z</dcterms:modified>
</cp:coreProperties>
</file>